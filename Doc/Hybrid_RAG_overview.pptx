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7817891-58ba-e43c-6887-59331eb9b9b4}">
          <p14:sldIdLst>
            <p14:sldId id="256"/>
          </p14:sldIdLst>
        </p14:section>
        <p14:section name="Purpose" id="{a72ed04a-415b-e05a-4877-76c13d3ec8be}">
          <p14:sldIdLst>
            <p14:sldId id="257"/>
          </p14:sldIdLst>
        </p14:section>
        <p14:section name="Architecture" id="{c50a933a-7d4f-da46-61d8-582dadc9b341}">
          <p14:sldIdLst>
            <p14:sldId id="258"/>
            <p14:sldId id="259"/>
          </p14:sldIdLst>
        </p14:section>
        <p14:section name="Implementation" id="{097cf588-38e2-7d2d-51fa-6051a75b42e2}">
          <p14:sldIdLst>
            <p14:sldId id="260"/>
            <p14:sldId id="261"/>
            <p14:sldId id="262"/>
          </p14:sldIdLst>
        </p14:section>
        <p14:section name="Status" id="{985b542f-513d-4ff9-fbc8-a0b60ecd0d90}">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0282C"/>
                </a:solidFill>
                <a:latin typeface="+mn-lt"/>
              </a:defRPr>
            </a:pPr>
            <a:r>
              <a:rPr sz="1600" b="0" i="0" u="none" strike="noStrike">
                <a:solidFill>
                  <a:srgbClr val="10282C"/>
                </a:solidFill>
                <a:latin typeface="+mn-lt"/>
              </a:rPr>
              <a:t>Dense search time, brute-force scan (ms)</a:t>
            </a:r>
          </a:p>
        </c:rich>
      </c:tx>
      <c:layout/>
      <c:overlay val="0"/>
    </c:title>
    <c:autoTitleDeleted val="0"/>
    <c:plotArea>
      <c:layout/>
      <c:barChart>
        <c:barDir val="col"/>
        <c:grouping val="clustered"/>
        <c:varyColors val="0"/>
        <c:ser>
          <c:idx val="0"/>
          <c:order val="0"/>
          <c:tx>
            <c:strRef>
              <c:f>Sheet1!$B$1</c:f>
              <c:strCache>
                <c:ptCount val="1"/>
                <c:pt idx="0">
                  <c:v>Dense search time (ms)</c:v>
                </c:pt>
              </c:strCache>
            </c:strRef>
          </c:tx>
          <c:spPr>
            <a:solidFill>
              <a:srgbClr val="1F6F6D"/>
            </a:solidFill>
            <a:effectLst/>
          </c:spPr>
          <c:invertIfNegative val="0"/>
          <c:dLbls>
            <c:numFmt formatCode="#,##0&quot; ms&quot;" sourceLinked="0"/>
            <c:txPr>
              <a:bodyPr/>
              <a:lstStyle/>
              <a:p>
                <a:pPr>
                  <a:defRPr b="0" i="0" strike="noStrike" sz="1400" u="none">
                    <a:solidFill>
                      <a:srgbClr val="10282C"/>
                    </a:solidFill>
                    <a:latin typeface="+mn-lt"/>
                  </a:defRPr>
                </a:pPr>
              </a:p>
            </c:txPr>
            <c:showLegendKey val="0"/>
            <c:showVal val="1"/>
            <c:showCatName val="0"/>
            <c:showSerName val="0"/>
            <c:showPercent val="0"/>
            <c:showBubbleSize val="0"/>
            <c:showLeaderLines val="0"/>
          </c:dLbls>
          <c:dPt>
            <c:idx val="0"/>
            <c:invertIfNegative val="0"/>
            <c:bubble3D val="0"/>
            <c:spPr>
              <a:solidFill>
                <a:srgbClr val="1F6F6D"/>
              </a:solidFill>
              <a:effectLst/>
            </c:spPr>
          </c:dPt>
          <c:dPt>
            <c:idx val="1"/>
            <c:invertIfNegative val="0"/>
            <c:bubble3D val="0"/>
            <c:spPr>
              <a:solidFill>
                <a:srgbClr val="1F6F6D"/>
              </a:solidFill>
              <a:effectLst/>
            </c:spPr>
          </c:dPt>
          <c:dPt>
            <c:idx val="2"/>
            <c:invertIfNegative val="0"/>
            <c:bubble3D val="0"/>
            <c:spPr>
              <a:solidFill>
                <a:srgbClr val="E08A2E"/>
              </a:solidFill>
              <a:effectLst/>
            </c:spPr>
          </c:dPt>
          <c:cat>
            <c:multiLvlStrRef>
              <c:f>Sheet1!$A$2:$A$4</c:f>
              <c:multiLvlStrCache>
                <c:ptCount val="3"/>
                <c:lvl>
                  <c:pt idx="0">
                    <c:v>18k chunks (today)</c:v>
                  </c:pt>
                  <c:pt idx="1">
                    <c:v>180k (10x)</c:v>
                  </c:pt>
                  <c:pt idx="2">
                    <c:v>900k (50x)</c:v>
                  </c:pt>
                </c:lvl>
              </c:multiLvlStrCache>
            </c:multiLvlStrRef>
          </c:cat>
          <c:val>
            <c:numRef>
              <c:f>Sheet1!$B$2:$B$4</c:f>
              <c:numCache>
                <c:formatCode>General</c:formatCode>
                <c:ptCount val="3"/>
                <c:pt idx="0">
                  <c:v>38</c:v>
                </c:pt>
                <c:pt idx="1">
                  <c:v>328</c:v>
                </c:pt>
                <c:pt idx="2">
                  <c:v>1838</c:v>
                </c:pt>
              </c:numCache>
            </c:numRef>
          </c:val>
        </c:ser>
        <c:dLbls>
          <c:numFmt formatCode="#,##0&quot; ms&quot;" sourceLinked="0"/>
          <c:txPr>
            <a:bodyPr/>
            <a:lstStyle/>
            <a:p>
              <a:pPr>
                <a:defRPr b="0" i="0" strike="noStrike" sz="1400" u="none">
                  <a:solidFill>
                    <a:srgbClr val="10282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0282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 fully local hybrid retrieval-augmented generation system: ask a question in Signal, get a cited answer drawn from a private document collection, with no cloud dependency and no per-query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Numbers come from the manifest database: about 2,500 files tracked (2,534 at last count) and about 18k chunks (17,976), all embedded. Everything runs on local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retrievers run on every query. Dense catches paraphrase and meaning; sparse catches exact names, IDs and codes. Reciprocal Rank Fusion merges the two ranked lists without needing comparable scores. The top 8 fused chunks go to the local LLM with the question. A relevance gate on raw dense distances refuses to answer when the knowledge base has nothing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folder of real-world documents is exactly where filenames and exact terminology matter and where pure embedding search quietly fails; pure keyword search misses paraphrase. Hybrid covers both failure modes at the cost of running two indexes and a fusion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Normalization before retrieval is the hard part of a non-uniform corpus. Each stage reads the previous stage's output and writes to the same manifest database, which makes every stage independently incremental. Chunk settings: chunk_target_chars 1500, overlap 200. Embeddings are 768-dimensional.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OpenClaw runs on a separate VM and reaches the desktop over the LAN via the Model Context Protocol (streamable HTTP). All three access points call the same answer_query() function, so behavior is identical across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i7-11700K, 62 GiB RAM, RTX 3080 10 GB, 937 GB NVMe; documents live on a 1.6 TB NFS share. Search timings were measured on this desktop with synthetic 768-dimensional vectors and synthetic FTS5 text at 18k, 180k and 900k chunks: brute-force dense scan 38 ms, 328 ms and 1.8 s; FTS5 1 ms, 10 ms and 39 ms; IVF-PQ index on 900k vectors built in 37 s and searched in 6 ms (speed only, recall not measured on real data). The real build embedded 17,693 chunks in about 2 minutes (roughly 130 chunks/s), so 1M chunks is about 2 hours. A full ingest of the roughly 2,500 files took roughly 20 to 75 minutes depending on OCR settings, so first-time ingest of a large corpus is the real cost; later runs are incremental. File and GB equivalents assume today's mix (about 7 chunks per file, about 10k chunks per GB of source). The project design target (step-4 section 7, step-3 section 8) is 1M documents / 500 GB, estimated at 5 to 20M chunks; that range was not tested. At float32 and 768 dimensions the raw vectors alone are about 15 GB at 5M chunks and 61 GB at 20M, against 62 GB of RAM, so memory (and the effect of index compression such as IVF-PQ on recall) is the open question, along with ingest time. Retrieval thresholds and top-K were calibrated on 18k chunks and should be re-checked on a much larger corpus. Answer time is dominated by the LLM, about 1 to 2 s warm, and does not grow with corpus size because only the top 8 chunks reach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as of October 2026. The investigation into the OpenClaw agent model is documented in Doc/step-5-requirements.md section 5 and sections 5a and 5b: models under about 14B failed live, qwen3.6:35b-a3b is the configured agent model, and OpenClaw tools must be allowed in both tools.allow and tools.sandbox.tools.alsoAllow. The doc says not to try a smaller agent model until OpenClaw's actual request to Ollama can be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Local Secure Hybrid RAG</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large"/>
          <p:cNvSpPr/>
          <p:nvPr/>
        </p:nvSpPr>
        <p:spPr>
          <a:xfrm>
            <a:off x="8503920" y="1188720"/>
            <a:ext cx="3291840" cy="3291840"/>
          </a:xfrm>
          <a:prstGeom prst="ellipse">
            <a:avLst/>
          </a:prstGeom>
          <a:solidFill>
            <a:schemeClr val="accent1">
              <a:alpha val="65000"/>
            </a:schemeClr>
          </a:solidFill>
          <a:ln w="12700">
            <a:solidFill>
              <a:schemeClr val="accent1"/>
            </a:solidFill>
            <a:prstDash val="solid"/>
          </a:ln>
        </p:spPr>
      </p:sp>
      <p:sp>
        <p:nvSpPr>
          <p:cNvPr id="3" name="motif-small"/>
          <p:cNvSpPr/>
          <p:nvPr/>
        </p:nvSpPr>
        <p:spPr>
          <a:xfrm>
            <a:off x="9966960" y="3291840"/>
            <a:ext cx="1645920" cy="1645920"/>
          </a:xfrm>
          <a:prstGeom prst="ellipse">
            <a:avLst/>
          </a:prstGeom>
          <a:solidFill>
            <a:schemeClr val="accent2">
              <a:alpha val="90000"/>
            </a:schemeClr>
          </a:solidFill>
          <a:ln w="12700">
            <a:solidFill>
              <a:schemeClr val="accent2"/>
            </a:solidFill>
            <a:prstDash val="solid"/>
          </a:ln>
        </p:spPr>
      </p:sp>
      <p:sp>
        <p:nvSpPr>
          <p:cNvPr id="4" name="deck-title"/>
          <p:cNvSpPr txBox="1"/>
          <p:nvPr/>
        </p:nvSpPr>
        <p:spPr>
          <a:xfrm>
            <a:off x="731520" y="2011680"/>
            <a:ext cx="7680960" cy="1371600"/>
          </a:xfrm>
          <a:prstGeom prst="rect">
            <a:avLst/>
          </a:prstGeom>
          <a:noFill/>
          <a:ln/>
        </p:spPr>
        <p:txBody>
          <a:bodyPr wrap="square" lIns="0" tIns="0" rIns="0" bIns="0" rtlCol="0" anchor="b"/>
          <a:lstStyle/>
          <a:p>
            <a:pPr indent="0" marL="0">
              <a:buNone/>
            </a:pPr>
            <a:r>
              <a:rPr lang="en-US" sz="5400" b="1" dirty="0">
                <a:solidFill>
                  <a:schemeClr val="bg1"/>
                </a:solidFill>
                <a:latin typeface="Cambria" pitchFamily="34" charset="0"/>
                <a:ea typeface="Cambria" pitchFamily="34" charset="-122"/>
                <a:cs typeface="Cambria" pitchFamily="34" charset="-120"/>
              </a:rPr>
              <a:t>Local Secure</a:t>
            </a:r>
            <a:endParaRPr lang="en-US" sz="5400" dirty="0"/>
          </a:p>
          <a:p>
            <a:pPr indent="0" marL="0">
              <a:buNone/>
            </a:pPr>
            <a:r>
              <a:rPr lang="en-US" sz="5400" b="1" dirty="0">
                <a:solidFill>
                  <a:schemeClr val="bg1"/>
                </a:solidFill>
                <a:latin typeface="Cambria" pitchFamily="34" charset="0"/>
                <a:ea typeface="Cambria" pitchFamily="34" charset="-122"/>
                <a:cs typeface="Cambria" pitchFamily="34" charset="-120"/>
              </a:rPr>
              <a:t>Hybrid RAG</a:t>
            </a:r>
            <a:endParaRPr lang="en-US" sz="5400" dirty="0"/>
          </a:p>
        </p:txBody>
      </p:sp>
      <p:sp>
        <p:nvSpPr>
          <p:cNvPr id="5" name="deck-subtitle"/>
          <p:cNvSpPr txBox="1"/>
          <p:nvPr/>
        </p:nvSpPr>
        <p:spPr>
          <a:xfrm>
            <a:off x="731520" y="3566160"/>
            <a:ext cx="7132320" cy="914400"/>
          </a:xfrm>
          <a:prstGeom prst="rect">
            <a:avLst/>
          </a:prstGeom>
          <a:noFill/>
          <a:ln/>
        </p:spPr>
        <p:txBody>
          <a:bodyPr wrap="square" lIns="0" tIns="0" rIns="0" bIns="0" rtlCol="0" anchor="t"/>
          <a:lstStyle/>
          <a:p>
            <a:pPr indent="0" marL="0">
              <a:buNone/>
            </a:pPr>
            <a:r>
              <a:rPr lang="en-US" sz="2200" dirty="0">
                <a:solidFill>
                  <a:schemeClr val="bg2"/>
                </a:solidFill>
                <a:latin typeface="Calibri" pitchFamily="34" charset="0"/>
                <a:ea typeface="Calibri" pitchFamily="34" charset="-122"/>
                <a:cs typeface="Calibri" pitchFamily="34" charset="-120"/>
              </a:rPr>
              <a:t>Cited answers from your own documents: private, local, and reachable over Signal</a:t>
            </a:r>
            <a:endParaRPr lang="en-US" sz="2200" dirty="0"/>
          </a:p>
        </p:txBody>
      </p:sp>
      <p:sp>
        <p:nvSpPr>
          <p:cNvPr id="6" name="Text 4"/>
          <p:cNvSpPr txBox="1"/>
          <p:nvPr/>
        </p:nvSpPr>
        <p:spPr>
          <a:xfrm>
            <a:off x="731520" y="5760720"/>
            <a:ext cx="7315200" cy="36576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Purpose  |  Architecture  |  Implementation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Why: precise answers from messy documents</a:t>
            </a:r>
            <a:endParaRPr lang="en-US" sz="3600" dirty="0"/>
          </a:p>
        </p:txBody>
      </p:sp>
      <p:sp>
        <p:nvSpPr>
          <p:cNvPr id="3" name="Text 1"/>
          <p:cNvSpPr txBox="1"/>
          <p:nvPr/>
        </p:nvSpPr>
        <p:spPr>
          <a:xfrm>
            <a:off x="548640" y="1508760"/>
            <a:ext cx="5760720" cy="36576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The problem</a:t>
            </a:r>
            <a:endParaRPr lang="en-US" sz="2000" dirty="0"/>
          </a:p>
        </p:txBody>
      </p:sp>
      <p:sp>
        <p:nvSpPr>
          <p:cNvPr id="4" name="Text 2"/>
          <p:cNvSpPr txBox="1"/>
          <p:nvPr/>
        </p:nvSpPr>
        <p:spPr>
          <a:xfrm>
            <a:off x="548640" y="1920240"/>
            <a:ext cx="57607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A field technician, inspector or aid worker is far from a desk, with a phone and weak signal.</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The answer is hidden somewhere in thousands of manuals, reports and case files, in mixed formats: PDF, Word, Excel, scans, images.</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Cloud AI means sending private data off-site and paying per query.</a:t>
            </a:r>
            <a:endParaRPr lang="en-US" sz="1600" dirty="0"/>
          </a:p>
        </p:txBody>
      </p:sp>
      <p:sp>
        <p:nvSpPr>
          <p:cNvPr id="5" name="Text 3"/>
          <p:cNvSpPr txBox="1"/>
          <p:nvPr/>
        </p:nvSpPr>
        <p:spPr>
          <a:xfrm>
            <a:off x="548640" y="4343400"/>
            <a:ext cx="5760720" cy="36576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The approach</a:t>
            </a:r>
            <a:endParaRPr lang="en-US" sz="2000" dirty="0"/>
          </a:p>
        </p:txBody>
      </p:sp>
      <p:sp>
        <p:nvSpPr>
          <p:cNvPr id="6" name="Text 4"/>
          <p:cNvSpPr txBox="1"/>
          <p:nvPr/>
        </p:nvSpPr>
        <p:spPr>
          <a:xfrm>
            <a:off x="548640" y="4754880"/>
            <a:ext cx="5760720" cy="13716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 proof of the architecture: a local pipeline that turns a large, messy collection into instant answers with sources. Run here on consumer hardware and a personal folder; portable to a real domain by swapping the ingestion layer.</a:t>
            </a:r>
            <a:endParaRPr lang="en-US" sz="1600" dirty="0"/>
          </a:p>
        </p:txBody>
      </p:sp>
      <p:sp>
        <p:nvSpPr>
          <p:cNvPr id="7" name="stat-card-1"/>
          <p:cNvSpPr/>
          <p:nvPr/>
        </p:nvSpPr>
        <p:spPr>
          <a:xfrm>
            <a:off x="7040880" y="1508760"/>
            <a:ext cx="4572000" cy="1417320"/>
          </a:xfrm>
          <a:prstGeom prst="roundRect">
            <a:avLst>
              <a:gd name="adj" fmla="val 5161"/>
            </a:avLst>
          </a:prstGeom>
          <a:solidFill>
            <a:schemeClr val="bg2"/>
          </a:solidFill>
          <a:ln w="12700">
            <a:solidFill>
              <a:schemeClr val="bg2"/>
            </a:solidFill>
            <a:prstDash val="solid"/>
          </a:ln>
        </p:spPr>
      </p:sp>
      <p:sp>
        <p:nvSpPr>
          <p:cNvPr id="8" name="Text 6"/>
          <p:cNvSpPr txBox="1"/>
          <p:nvPr/>
        </p:nvSpPr>
        <p:spPr>
          <a:xfrm>
            <a:off x="7269480" y="1645920"/>
            <a:ext cx="2194560" cy="11430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~2,500</a:t>
            </a:r>
            <a:endParaRPr lang="en-US" sz="4800" dirty="0"/>
          </a:p>
        </p:txBody>
      </p:sp>
      <p:sp>
        <p:nvSpPr>
          <p:cNvPr id="9" name="Text 7"/>
          <p:cNvSpPr txBox="1"/>
          <p:nvPr/>
        </p:nvSpPr>
        <p:spPr>
          <a:xfrm>
            <a:off x="9464040" y="1645920"/>
            <a:ext cx="2011680" cy="11430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files catalogued in the manifest</a:t>
            </a:r>
            <a:endParaRPr lang="en-US" sz="1600" dirty="0"/>
          </a:p>
        </p:txBody>
      </p:sp>
      <p:sp>
        <p:nvSpPr>
          <p:cNvPr id="10" name="stat-card-2"/>
          <p:cNvSpPr/>
          <p:nvPr/>
        </p:nvSpPr>
        <p:spPr>
          <a:xfrm>
            <a:off x="7040880" y="3108960"/>
            <a:ext cx="4572000" cy="1417320"/>
          </a:xfrm>
          <a:prstGeom prst="roundRect">
            <a:avLst>
              <a:gd name="adj" fmla="val 5161"/>
            </a:avLst>
          </a:prstGeom>
          <a:solidFill>
            <a:schemeClr val="bg2"/>
          </a:solidFill>
          <a:ln w="12700">
            <a:solidFill>
              <a:schemeClr val="bg2"/>
            </a:solidFill>
            <a:prstDash val="solid"/>
          </a:ln>
        </p:spPr>
      </p:sp>
      <p:sp>
        <p:nvSpPr>
          <p:cNvPr id="11" name="Text 9"/>
          <p:cNvSpPr txBox="1"/>
          <p:nvPr/>
        </p:nvSpPr>
        <p:spPr>
          <a:xfrm>
            <a:off x="7269480" y="3246120"/>
            <a:ext cx="2194560" cy="11430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~18k</a:t>
            </a:r>
            <a:endParaRPr lang="en-US" sz="4800" dirty="0"/>
          </a:p>
        </p:txBody>
      </p:sp>
      <p:sp>
        <p:nvSpPr>
          <p:cNvPr id="12" name="Text 10"/>
          <p:cNvSpPr txBox="1"/>
          <p:nvPr/>
        </p:nvSpPr>
        <p:spPr>
          <a:xfrm>
            <a:off x="9464040" y="3246120"/>
            <a:ext cx="2011680" cy="11430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text chunks indexed and embedded</a:t>
            </a:r>
            <a:endParaRPr lang="en-US" sz="1600" dirty="0"/>
          </a:p>
        </p:txBody>
      </p:sp>
      <p:sp>
        <p:nvSpPr>
          <p:cNvPr id="13" name="stat-card-3"/>
          <p:cNvSpPr/>
          <p:nvPr/>
        </p:nvSpPr>
        <p:spPr>
          <a:xfrm>
            <a:off x="7040880" y="4709160"/>
            <a:ext cx="4572000" cy="1417320"/>
          </a:xfrm>
          <a:prstGeom prst="roundRect">
            <a:avLst>
              <a:gd name="adj" fmla="val 5161"/>
            </a:avLst>
          </a:prstGeom>
          <a:solidFill>
            <a:schemeClr val="bg2"/>
          </a:solidFill>
          <a:ln w="12700">
            <a:solidFill>
              <a:schemeClr val="bg2"/>
            </a:solidFill>
            <a:prstDash val="solid"/>
          </a:ln>
        </p:spPr>
      </p:sp>
      <p:sp>
        <p:nvSpPr>
          <p:cNvPr id="14" name="Text 12"/>
          <p:cNvSpPr txBox="1"/>
          <p:nvPr/>
        </p:nvSpPr>
        <p:spPr>
          <a:xfrm>
            <a:off x="7269480" y="4846320"/>
            <a:ext cx="2194560" cy="11430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0</a:t>
            </a:r>
            <a:endParaRPr lang="en-US" sz="4800" dirty="0"/>
          </a:p>
        </p:txBody>
      </p:sp>
      <p:sp>
        <p:nvSpPr>
          <p:cNvPr id="15" name="Text 13"/>
          <p:cNvSpPr txBox="1"/>
          <p:nvPr/>
        </p:nvSpPr>
        <p:spPr>
          <a:xfrm>
            <a:off x="9464040" y="4846320"/>
            <a:ext cx="2011680" cy="11430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cloud calls and $0 per query</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Architecture: two retrievers, one fused answer</a:t>
            </a:r>
            <a:endParaRPr lang="en-US" sz="3600" dirty="0"/>
          </a:p>
        </p:txBody>
      </p:sp>
      <p:sp>
        <p:nvSpPr>
          <p:cNvPr id="3" name="Text 1"/>
          <p:cNvSpPr txBox="1"/>
          <p:nvPr/>
        </p:nvSpPr>
        <p:spPr>
          <a:xfrm>
            <a:off x="2651760" y="1371600"/>
            <a:ext cx="4754880" cy="32004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DENSE: finds meaning</a:t>
            </a:r>
            <a:endParaRPr lang="en-US" sz="1400" dirty="0"/>
          </a:p>
        </p:txBody>
      </p:sp>
      <p:sp>
        <p:nvSpPr>
          <p:cNvPr id="4" name="Text 2"/>
          <p:cNvSpPr txBox="1"/>
          <p:nvPr/>
        </p:nvSpPr>
        <p:spPr>
          <a:xfrm>
            <a:off x="2651760" y="4160520"/>
            <a:ext cx="4754880" cy="32004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SPARSE: finds exact terms</a:t>
            </a:r>
            <a:endParaRPr lang="en-US" sz="1400" dirty="0"/>
          </a:p>
        </p:txBody>
      </p:sp>
      <p:sp>
        <p:nvSpPr>
          <p:cNvPr id="5" name="node-query"/>
          <p:cNvSpPr/>
          <p:nvPr/>
        </p:nvSpPr>
        <p:spPr>
          <a:xfrm>
            <a:off x="548640" y="2926080"/>
            <a:ext cx="1645920" cy="1005840"/>
          </a:xfrm>
          <a:prstGeom prst="roundRect">
            <a:avLst>
              <a:gd name="adj" fmla="val 7273"/>
            </a:avLst>
          </a:prstGeom>
          <a:solidFill>
            <a:schemeClr val="tx1"/>
          </a:solidFill>
          <a:ln w="12700">
            <a:solidFill>
              <a:schemeClr val="tx1"/>
            </a:solidFill>
            <a:prstDash val="solid"/>
          </a:ln>
        </p:spPr>
      </p:sp>
      <p:sp>
        <p:nvSpPr>
          <p:cNvPr id="6" name="Text 4"/>
          <p:cNvSpPr txBox="1"/>
          <p:nvPr/>
        </p:nvSpPr>
        <p:spPr>
          <a:xfrm>
            <a:off x="548640" y="2926080"/>
            <a:ext cx="1645920" cy="10058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Your question</a:t>
            </a:r>
            <a:endParaRPr lang="en-US" sz="1600" dirty="0"/>
          </a:p>
        </p:txBody>
      </p:sp>
      <p:sp>
        <p:nvSpPr>
          <p:cNvPr id="7" name="node-embed"/>
          <p:cNvSpPr/>
          <p:nvPr/>
        </p:nvSpPr>
        <p:spPr>
          <a:xfrm>
            <a:off x="2651760" y="1783080"/>
            <a:ext cx="2194560" cy="1188720"/>
          </a:xfrm>
          <a:prstGeom prst="roundRect">
            <a:avLst>
              <a:gd name="adj" fmla="val 6154"/>
            </a:avLst>
          </a:prstGeom>
          <a:solidFill>
            <a:schemeClr val="bg2"/>
          </a:solidFill>
          <a:ln w="19050">
            <a:solidFill>
              <a:schemeClr val="accent1"/>
            </a:solidFill>
            <a:prstDash val="solid"/>
          </a:ln>
        </p:spPr>
      </p:sp>
      <p:sp>
        <p:nvSpPr>
          <p:cNvPr id="8" name="Text 6"/>
          <p:cNvSpPr txBox="1"/>
          <p:nvPr/>
        </p:nvSpPr>
        <p:spPr>
          <a:xfrm>
            <a:off x="2651760" y="1783080"/>
            <a:ext cx="2194560" cy="11887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Embedding model</a:t>
            </a:r>
            <a:endParaRPr lang="en-US" sz="1600" dirty="0"/>
          </a:p>
          <a:p>
            <a:pPr algn="ctr" indent="0" marL="0">
              <a:buNone/>
            </a:pPr>
            <a:r>
              <a:rPr lang="en-US" sz="1400" dirty="0">
                <a:solidFill>
                  <a:schemeClr val="tx1"/>
                </a:solidFill>
                <a:latin typeface="Calibri" pitchFamily="34" charset="0"/>
                <a:ea typeface="Calibri" pitchFamily="34" charset="-122"/>
                <a:cs typeface="Calibri" pitchFamily="34" charset="-120"/>
              </a:rPr>
              <a:t>nomic-embed-text</a:t>
            </a:r>
            <a:endParaRPr lang="en-US" sz="1600" dirty="0"/>
          </a:p>
        </p:txBody>
      </p:sp>
      <p:sp>
        <p:nvSpPr>
          <p:cNvPr id="9" name="node-lancedb"/>
          <p:cNvSpPr/>
          <p:nvPr/>
        </p:nvSpPr>
        <p:spPr>
          <a:xfrm>
            <a:off x="5212080" y="1783080"/>
            <a:ext cx="2194560" cy="1188720"/>
          </a:xfrm>
          <a:prstGeom prst="roundRect">
            <a:avLst>
              <a:gd name="adj" fmla="val 6154"/>
            </a:avLst>
          </a:prstGeom>
          <a:solidFill>
            <a:schemeClr val="bg2"/>
          </a:solidFill>
          <a:ln w="19050">
            <a:solidFill>
              <a:schemeClr val="accent1"/>
            </a:solidFill>
            <a:prstDash val="solid"/>
          </a:ln>
        </p:spPr>
      </p:sp>
      <p:sp>
        <p:nvSpPr>
          <p:cNvPr id="10" name="Text 8"/>
          <p:cNvSpPr txBox="1"/>
          <p:nvPr/>
        </p:nvSpPr>
        <p:spPr>
          <a:xfrm>
            <a:off x="5212080" y="1783080"/>
            <a:ext cx="2194560" cy="11887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LanceDB vectors</a:t>
            </a:r>
            <a:endParaRPr lang="en-US" sz="1600" dirty="0"/>
          </a:p>
          <a:p>
            <a:pPr algn="ctr" indent="0" marL="0">
              <a:buNone/>
            </a:pPr>
            <a:r>
              <a:rPr lang="en-US" sz="1400" dirty="0">
                <a:solidFill>
                  <a:schemeClr val="tx1"/>
                </a:solidFill>
                <a:latin typeface="Calibri" pitchFamily="34" charset="0"/>
                <a:ea typeface="Calibri" pitchFamily="34" charset="-122"/>
                <a:cs typeface="Calibri" pitchFamily="34" charset="-120"/>
              </a:rPr>
              <a:t>768-d, top 20</a:t>
            </a:r>
            <a:endParaRPr lang="en-US" sz="1600" dirty="0"/>
          </a:p>
        </p:txBody>
      </p:sp>
      <p:sp>
        <p:nvSpPr>
          <p:cNvPr id="11" name="node-fts"/>
          <p:cNvSpPr/>
          <p:nvPr/>
        </p:nvSpPr>
        <p:spPr>
          <a:xfrm>
            <a:off x="2651760" y="4526280"/>
            <a:ext cx="4754880" cy="1188720"/>
          </a:xfrm>
          <a:prstGeom prst="roundRect">
            <a:avLst>
              <a:gd name="adj" fmla="val 6154"/>
            </a:avLst>
          </a:prstGeom>
          <a:solidFill>
            <a:srgbClr val="FBEFE0"/>
          </a:solidFill>
          <a:ln w="19050">
            <a:solidFill>
              <a:schemeClr val="accent2"/>
            </a:solidFill>
            <a:prstDash val="solid"/>
          </a:ln>
        </p:spPr>
      </p:sp>
      <p:sp>
        <p:nvSpPr>
          <p:cNvPr id="12" name="Text 10"/>
          <p:cNvSpPr txBox="1"/>
          <p:nvPr/>
        </p:nvSpPr>
        <p:spPr>
          <a:xfrm>
            <a:off x="2651760" y="4526280"/>
            <a:ext cx="4754880" cy="11887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SQLite FTS5 keyword index</a:t>
            </a:r>
            <a:endParaRPr lang="en-US" sz="1600" dirty="0"/>
          </a:p>
          <a:p>
            <a:pPr algn="ctr" indent="0" marL="0">
              <a:buNone/>
            </a:pPr>
            <a:r>
              <a:rPr lang="en-US" sz="1400" dirty="0">
                <a:solidFill>
                  <a:schemeClr val="tx1"/>
                </a:solidFill>
                <a:latin typeface="Calibri" pitchFamily="34" charset="0"/>
                <a:ea typeface="Calibri" pitchFamily="34" charset="-122"/>
                <a:cs typeface="Calibri" pitchFamily="34" charset="-120"/>
              </a:rPr>
              <a:t>BM25 ranking, top 20</a:t>
            </a:r>
            <a:endParaRPr lang="en-US" sz="1600" dirty="0"/>
          </a:p>
        </p:txBody>
      </p:sp>
      <p:sp>
        <p:nvSpPr>
          <p:cNvPr id="13" name="node-rrf"/>
          <p:cNvSpPr/>
          <p:nvPr/>
        </p:nvSpPr>
        <p:spPr>
          <a:xfrm>
            <a:off x="7772400" y="2926080"/>
            <a:ext cx="1737360" cy="1005840"/>
          </a:xfrm>
          <a:prstGeom prst="roundRect">
            <a:avLst>
              <a:gd name="adj" fmla="val 7273"/>
            </a:avLst>
          </a:prstGeom>
          <a:solidFill>
            <a:schemeClr val="accent1"/>
          </a:solidFill>
          <a:ln w="12700">
            <a:solidFill>
              <a:schemeClr val="accent1"/>
            </a:solidFill>
            <a:prstDash val="solid"/>
          </a:ln>
        </p:spPr>
      </p:sp>
      <p:sp>
        <p:nvSpPr>
          <p:cNvPr id="14" name="Text 12"/>
          <p:cNvSpPr txBox="1"/>
          <p:nvPr/>
        </p:nvSpPr>
        <p:spPr>
          <a:xfrm>
            <a:off x="7772400" y="2926080"/>
            <a:ext cx="1737360" cy="10058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Fusion (RRF)</a:t>
            </a:r>
            <a:endParaRPr lang="en-US" sz="1600" dirty="0"/>
          </a:p>
          <a:p>
            <a:pPr algn="ctr" indent="0" marL="0">
              <a:buNone/>
            </a:pPr>
            <a:r>
              <a:rPr lang="en-US" sz="1400" dirty="0">
                <a:solidFill>
                  <a:schemeClr val="bg1"/>
                </a:solidFill>
                <a:latin typeface="Calibri" pitchFamily="34" charset="0"/>
                <a:ea typeface="Calibri" pitchFamily="34" charset="-122"/>
                <a:cs typeface="Calibri" pitchFamily="34" charset="-120"/>
              </a:rPr>
              <a:t>top 8 chunks</a:t>
            </a:r>
            <a:endParaRPr lang="en-US" sz="1600" dirty="0"/>
          </a:p>
        </p:txBody>
      </p:sp>
      <p:sp>
        <p:nvSpPr>
          <p:cNvPr id="15" name="node-llm"/>
          <p:cNvSpPr/>
          <p:nvPr/>
        </p:nvSpPr>
        <p:spPr>
          <a:xfrm>
            <a:off x="9875520" y="2926080"/>
            <a:ext cx="1783080" cy="1005840"/>
          </a:xfrm>
          <a:prstGeom prst="roundRect">
            <a:avLst>
              <a:gd name="adj" fmla="val 7273"/>
            </a:avLst>
          </a:prstGeom>
          <a:solidFill>
            <a:schemeClr val="accent2"/>
          </a:solidFill>
          <a:ln w="12700">
            <a:solidFill>
              <a:schemeClr val="accent2"/>
            </a:solidFill>
            <a:prstDash val="solid"/>
          </a:ln>
        </p:spPr>
      </p:sp>
      <p:sp>
        <p:nvSpPr>
          <p:cNvPr id="16" name="Text 14"/>
          <p:cNvSpPr txBox="1"/>
          <p:nvPr/>
        </p:nvSpPr>
        <p:spPr>
          <a:xfrm>
            <a:off x="9875520" y="2926080"/>
            <a:ext cx="1783080" cy="10058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LLM (qwen3:8b)</a:t>
            </a:r>
            <a:endParaRPr lang="en-US" sz="1600" dirty="0"/>
          </a:p>
          <a:p>
            <a:pPr algn="ctr" indent="0" marL="0">
              <a:buNone/>
            </a:pPr>
            <a:r>
              <a:rPr lang="en-US" sz="1400" dirty="0">
                <a:solidFill>
                  <a:schemeClr val="tx1"/>
                </a:solidFill>
                <a:latin typeface="Calibri" pitchFamily="34" charset="0"/>
                <a:ea typeface="Calibri" pitchFamily="34" charset="-122"/>
                <a:cs typeface="Calibri" pitchFamily="34" charset="-120"/>
              </a:rPr>
              <a:t>cited answer</a:t>
            </a:r>
            <a:endParaRPr lang="en-US" sz="1600" dirty="0"/>
          </a:p>
        </p:txBody>
      </p:sp>
      <p:sp>
        <p:nvSpPr>
          <p:cNvPr id="17" name="Shape 15"/>
          <p:cNvSpPr/>
          <p:nvPr/>
        </p:nvSpPr>
        <p:spPr>
          <a:xfrm flipV="1">
            <a:off x="2194560" y="2377440"/>
            <a:ext cx="457200" cy="1051560"/>
          </a:xfrm>
          <a:prstGeom prst="line">
            <a:avLst/>
          </a:prstGeom>
          <a:noFill/>
          <a:ln w="22225">
            <a:solidFill>
              <a:schemeClr val="accent6"/>
            </a:solidFill>
            <a:prstDash val="solid"/>
            <a:tailEnd type="triangle"/>
          </a:ln>
        </p:spPr>
      </p:sp>
      <p:sp>
        <p:nvSpPr>
          <p:cNvPr id="18" name="Shape 16"/>
          <p:cNvSpPr/>
          <p:nvPr/>
        </p:nvSpPr>
        <p:spPr>
          <a:xfrm>
            <a:off x="2194560" y="3429000"/>
            <a:ext cx="457200" cy="1691640"/>
          </a:xfrm>
          <a:prstGeom prst="line">
            <a:avLst/>
          </a:prstGeom>
          <a:noFill/>
          <a:ln w="22225">
            <a:solidFill>
              <a:schemeClr val="accent6"/>
            </a:solidFill>
            <a:prstDash val="solid"/>
            <a:tailEnd type="triangle"/>
          </a:ln>
        </p:spPr>
      </p:sp>
      <p:sp>
        <p:nvSpPr>
          <p:cNvPr id="19" name="Shape 17"/>
          <p:cNvSpPr/>
          <p:nvPr/>
        </p:nvSpPr>
        <p:spPr>
          <a:xfrm>
            <a:off x="4846320" y="2377440"/>
            <a:ext cx="365760" cy="0"/>
          </a:xfrm>
          <a:prstGeom prst="line">
            <a:avLst/>
          </a:prstGeom>
          <a:noFill/>
          <a:ln w="22225">
            <a:solidFill>
              <a:schemeClr val="accent6"/>
            </a:solidFill>
            <a:prstDash val="solid"/>
            <a:tailEnd type="triangle"/>
          </a:ln>
        </p:spPr>
      </p:sp>
      <p:sp>
        <p:nvSpPr>
          <p:cNvPr id="20" name="Shape 18"/>
          <p:cNvSpPr/>
          <p:nvPr/>
        </p:nvSpPr>
        <p:spPr>
          <a:xfrm>
            <a:off x="7406640" y="2377440"/>
            <a:ext cx="365760" cy="1051560"/>
          </a:xfrm>
          <a:prstGeom prst="line">
            <a:avLst/>
          </a:prstGeom>
          <a:noFill/>
          <a:ln w="22225">
            <a:solidFill>
              <a:schemeClr val="accent6"/>
            </a:solidFill>
            <a:prstDash val="solid"/>
            <a:tailEnd type="triangle"/>
          </a:ln>
        </p:spPr>
      </p:sp>
      <p:sp>
        <p:nvSpPr>
          <p:cNvPr id="21" name="Shape 19"/>
          <p:cNvSpPr/>
          <p:nvPr/>
        </p:nvSpPr>
        <p:spPr>
          <a:xfrm flipV="1">
            <a:off x="7406640" y="3429000"/>
            <a:ext cx="365760" cy="1691640"/>
          </a:xfrm>
          <a:prstGeom prst="line">
            <a:avLst/>
          </a:prstGeom>
          <a:noFill/>
          <a:ln w="22225">
            <a:solidFill>
              <a:schemeClr val="accent6"/>
            </a:solidFill>
            <a:prstDash val="solid"/>
            <a:tailEnd type="triangle"/>
          </a:ln>
        </p:spPr>
      </p:sp>
      <p:sp>
        <p:nvSpPr>
          <p:cNvPr id="22" name="Shape 20"/>
          <p:cNvSpPr/>
          <p:nvPr/>
        </p:nvSpPr>
        <p:spPr>
          <a:xfrm>
            <a:off x="9509760" y="3429000"/>
            <a:ext cx="365760" cy="0"/>
          </a:xfrm>
          <a:prstGeom prst="line">
            <a:avLst/>
          </a:prstGeom>
          <a:noFill/>
          <a:ln w="22225">
            <a:solidFill>
              <a:schemeClr val="accent6"/>
            </a:solidFill>
            <a:prstDash val="solid"/>
            <a:tailEnd type="triangle"/>
          </a:ln>
        </p:spPr>
      </p:sp>
      <p:sp>
        <p:nvSpPr>
          <p:cNvPr id="23" name="Text 21"/>
          <p:cNvSpPr txBox="1"/>
          <p:nvPr/>
        </p:nvSpPr>
        <p:spPr>
          <a:xfrm>
            <a:off x="7772400" y="4572000"/>
            <a:ext cx="3886200" cy="118872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Strict grounding: if no retrieved chunk is close enough, the system says so instead of guessing.</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Why hybrid: each covers the other's gaps</a:t>
            </a:r>
            <a:endParaRPr lang="en-US" sz="3600" dirty="0"/>
          </a:p>
        </p:txBody>
      </p:sp>
      <p:sp>
        <p:nvSpPr>
          <p:cNvPr id="3" name="card-1"/>
          <p:cNvSpPr/>
          <p:nvPr/>
        </p:nvSpPr>
        <p:spPr>
          <a:xfrm>
            <a:off x="548640" y="1508760"/>
            <a:ext cx="5349240" cy="3017520"/>
          </a:xfrm>
          <a:prstGeom prst="roundRect">
            <a:avLst>
              <a:gd name="adj" fmla="val 2424"/>
            </a:avLst>
          </a:prstGeom>
          <a:solidFill>
            <a:schemeClr val="bg2"/>
          </a:solidFill>
          <a:ln w="12700">
            <a:solidFill>
              <a:schemeClr val="bg2"/>
            </a:solidFill>
            <a:prstDash val="solid"/>
          </a:ln>
        </p:spPr>
      </p:sp>
      <p:sp>
        <p:nvSpPr>
          <p:cNvPr id="4" name="Shape 2"/>
          <p:cNvSpPr/>
          <p:nvPr/>
        </p:nvSpPr>
        <p:spPr>
          <a:xfrm>
            <a:off x="822960" y="173736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822960"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554480" y="1737360"/>
            <a:ext cx="4023360" cy="5486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Dense (semantic)</a:t>
            </a:r>
            <a:endParaRPr lang="en-US" sz="2400" dirty="0"/>
          </a:p>
        </p:txBody>
      </p:sp>
      <p:sp>
        <p:nvSpPr>
          <p:cNvPr id="7" name="Text 5"/>
          <p:cNvSpPr txBox="1"/>
          <p:nvPr/>
        </p:nvSpPr>
        <p:spPr>
          <a:xfrm>
            <a:off x="868680" y="2514600"/>
            <a:ext cx="4754880" cy="18288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Matches meaning and paraphrase, even with different words</a:t>
            </a:r>
            <a:endParaRPr lang="en-US" sz="1800" dirty="0"/>
          </a:p>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Weak on exact tokens: part numbers, error codes, filenames, rare names</a:t>
            </a:r>
            <a:endParaRPr lang="en-US" sz="1800" dirty="0"/>
          </a:p>
        </p:txBody>
      </p:sp>
      <p:sp>
        <p:nvSpPr>
          <p:cNvPr id="8" name="card-2"/>
          <p:cNvSpPr/>
          <p:nvPr/>
        </p:nvSpPr>
        <p:spPr>
          <a:xfrm>
            <a:off x="6263640" y="1508760"/>
            <a:ext cx="5349240" cy="3017520"/>
          </a:xfrm>
          <a:prstGeom prst="roundRect">
            <a:avLst>
              <a:gd name="adj" fmla="val 2424"/>
            </a:avLst>
          </a:prstGeom>
          <a:solidFill>
            <a:srgbClr val="FBEFE0"/>
          </a:solidFill>
          <a:ln w="12700">
            <a:solidFill>
              <a:srgbClr val="FBEFE0"/>
            </a:solidFill>
            <a:prstDash val="solid"/>
          </a:ln>
        </p:spPr>
      </p:sp>
      <p:sp>
        <p:nvSpPr>
          <p:cNvPr id="9" name="Shape 7"/>
          <p:cNvSpPr/>
          <p:nvPr/>
        </p:nvSpPr>
        <p:spPr>
          <a:xfrm>
            <a:off x="6537960" y="1737360"/>
            <a:ext cx="548640" cy="548640"/>
          </a:xfrm>
          <a:prstGeom prst="ellipse">
            <a:avLst/>
          </a:prstGeom>
          <a:solidFill>
            <a:schemeClr val="accent2"/>
          </a:solidFill>
          <a:ln w="12700">
            <a:solidFill>
              <a:schemeClr val="accent2"/>
            </a:solidFill>
            <a:prstDash val="solid"/>
          </a:ln>
        </p:spPr>
      </p:sp>
      <p:sp>
        <p:nvSpPr>
          <p:cNvPr id="10" name="Text 8"/>
          <p:cNvSpPr txBox="1"/>
          <p:nvPr/>
        </p:nvSpPr>
        <p:spPr>
          <a:xfrm>
            <a:off x="6537960"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7269480" y="1737360"/>
            <a:ext cx="4023360" cy="5486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Sparse (BM25)</a:t>
            </a:r>
            <a:endParaRPr lang="en-US" sz="2400" dirty="0"/>
          </a:p>
        </p:txBody>
      </p:sp>
      <p:sp>
        <p:nvSpPr>
          <p:cNvPr id="12" name="Text 10"/>
          <p:cNvSpPr txBox="1"/>
          <p:nvPr/>
        </p:nvSpPr>
        <p:spPr>
          <a:xfrm>
            <a:off x="6583680" y="2514600"/>
            <a:ext cx="4754880" cy="18288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Matches exact terms, acronyms, IDs and filenames</a:t>
            </a:r>
            <a:endParaRPr lang="en-US" sz="1800" dirty="0"/>
          </a:p>
          <a:p>
            <a:pPr marL="342900" indent="-3429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Blind to paraphrase: a differently-worded question finds nothing</a:t>
            </a:r>
            <a:endParaRPr lang="en-US" sz="1800" dirty="0"/>
          </a:p>
        </p:txBody>
      </p:sp>
      <p:sp>
        <p:nvSpPr>
          <p:cNvPr id="13" name="rrf-banner"/>
          <p:cNvSpPr/>
          <p:nvPr/>
        </p:nvSpPr>
        <p:spPr>
          <a:xfrm>
            <a:off x="548640" y="4800600"/>
            <a:ext cx="11064240" cy="1325880"/>
          </a:xfrm>
          <a:prstGeom prst="roundRect">
            <a:avLst>
              <a:gd name="adj" fmla="val 5517"/>
            </a:avLst>
          </a:prstGeom>
          <a:solidFill>
            <a:schemeClr val="tx1"/>
          </a:solidFill>
          <a:ln w="12700">
            <a:solidFill>
              <a:schemeClr val="tx1"/>
            </a:solidFill>
            <a:prstDash val="solid"/>
          </a:ln>
        </p:spPr>
      </p:sp>
      <p:sp>
        <p:nvSpPr>
          <p:cNvPr id="14" name="Text 12"/>
          <p:cNvSpPr txBox="1"/>
          <p:nvPr/>
        </p:nvSpPr>
        <p:spPr>
          <a:xfrm>
            <a:off x="868680" y="4937760"/>
            <a:ext cx="3291840" cy="105156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Reciprocal Rank Fusion</a:t>
            </a:r>
            <a:endParaRPr lang="en-US" sz="2200" dirty="0"/>
          </a:p>
        </p:txBody>
      </p:sp>
      <p:sp>
        <p:nvSpPr>
          <p:cNvPr id="15" name="Text 13"/>
          <p:cNvSpPr txBox="1"/>
          <p:nvPr/>
        </p:nvSpPr>
        <p:spPr>
          <a:xfrm>
            <a:off x="4572000" y="4937760"/>
            <a:ext cx="6766560" cy="105156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Merges the two ranked lists using rank position only (k = 60), so the two systems' scores never need to share a scale. A chunk found by both rises to the top.</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Implementation: files to searchable chunks</a:t>
            </a:r>
            <a:endParaRPr lang="en-US" sz="3600" dirty="0"/>
          </a:p>
        </p:txBody>
      </p:sp>
      <p:sp>
        <p:nvSpPr>
          <p:cNvPr id="3" name="step-card-1"/>
          <p:cNvSpPr/>
          <p:nvPr/>
        </p:nvSpPr>
        <p:spPr>
          <a:xfrm>
            <a:off x="548640" y="1600200"/>
            <a:ext cx="2057400" cy="3566160"/>
          </a:xfrm>
          <a:prstGeom prst="roundRect">
            <a:avLst>
              <a:gd name="adj" fmla="val 3556"/>
            </a:avLst>
          </a:prstGeom>
          <a:solidFill>
            <a:schemeClr val="bg2"/>
          </a:solidFill>
          <a:ln w="12700">
            <a:solidFill>
              <a:schemeClr val="bg2"/>
            </a:solidFill>
            <a:prstDash val="solid"/>
          </a:ln>
        </p:spPr>
      </p:sp>
      <p:sp>
        <p:nvSpPr>
          <p:cNvPr id="4" name="Shape 2"/>
          <p:cNvSpPr/>
          <p:nvPr/>
        </p:nvSpPr>
        <p:spPr>
          <a:xfrm>
            <a:off x="777240" y="1828800"/>
            <a:ext cx="594360" cy="594360"/>
          </a:xfrm>
          <a:prstGeom prst="ellipse">
            <a:avLst/>
          </a:prstGeom>
          <a:solidFill>
            <a:schemeClr val="accent1"/>
          </a:solidFill>
          <a:ln w="12700">
            <a:solidFill>
              <a:schemeClr val="accent1"/>
            </a:solidFill>
            <a:prstDash val="solid"/>
          </a:ln>
        </p:spPr>
      </p:sp>
      <p:sp>
        <p:nvSpPr>
          <p:cNvPr id="5" name="Text 3"/>
          <p:cNvSpPr txBox="1"/>
          <p:nvPr/>
        </p:nvSpPr>
        <p:spPr>
          <a:xfrm>
            <a:off x="777240" y="18288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777240" y="2606040"/>
            <a:ext cx="160020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Ingest</a:t>
            </a:r>
            <a:endParaRPr lang="en-US" sz="2200" dirty="0"/>
          </a:p>
        </p:txBody>
      </p:sp>
      <p:sp>
        <p:nvSpPr>
          <p:cNvPr id="7" name="Text 5"/>
          <p:cNvSpPr txBox="1"/>
          <p:nvPr/>
        </p:nvSpPr>
        <p:spPr>
          <a:xfrm>
            <a:off x="777240" y="3108960"/>
            <a:ext cx="1600200" cy="1920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Walk the folder tree and record every file in a SQLite manifest with content hashes.</a:t>
            </a:r>
            <a:endParaRPr lang="en-US" sz="1400" dirty="0"/>
          </a:p>
        </p:txBody>
      </p:sp>
      <p:sp>
        <p:nvSpPr>
          <p:cNvPr id="8" name="Shape 6"/>
          <p:cNvSpPr/>
          <p:nvPr/>
        </p:nvSpPr>
        <p:spPr>
          <a:xfrm>
            <a:off x="2615184" y="3383280"/>
            <a:ext cx="176022" cy="0"/>
          </a:xfrm>
          <a:prstGeom prst="line">
            <a:avLst/>
          </a:prstGeom>
          <a:noFill/>
          <a:ln w="22225">
            <a:solidFill>
              <a:schemeClr val="accent6"/>
            </a:solidFill>
            <a:prstDash val="solid"/>
            <a:tailEnd type="triangle"/>
          </a:ln>
        </p:spPr>
      </p:sp>
      <p:sp>
        <p:nvSpPr>
          <p:cNvPr id="9" name="step-card-2"/>
          <p:cNvSpPr/>
          <p:nvPr/>
        </p:nvSpPr>
        <p:spPr>
          <a:xfrm>
            <a:off x="2800350" y="1600200"/>
            <a:ext cx="2057400" cy="3566160"/>
          </a:xfrm>
          <a:prstGeom prst="roundRect">
            <a:avLst>
              <a:gd name="adj" fmla="val 3556"/>
            </a:avLst>
          </a:prstGeom>
          <a:solidFill>
            <a:schemeClr val="bg2"/>
          </a:solidFill>
          <a:ln w="12700">
            <a:solidFill>
              <a:schemeClr val="bg2"/>
            </a:solidFill>
            <a:prstDash val="solid"/>
          </a:ln>
        </p:spPr>
      </p:sp>
      <p:sp>
        <p:nvSpPr>
          <p:cNvPr id="10" name="Shape 8"/>
          <p:cNvSpPr/>
          <p:nvPr/>
        </p:nvSpPr>
        <p:spPr>
          <a:xfrm>
            <a:off x="3028950" y="1828800"/>
            <a:ext cx="594360" cy="594360"/>
          </a:xfrm>
          <a:prstGeom prst="ellipse">
            <a:avLst/>
          </a:prstGeom>
          <a:solidFill>
            <a:schemeClr val="accent1"/>
          </a:solidFill>
          <a:ln w="12700">
            <a:solidFill>
              <a:schemeClr val="accent1"/>
            </a:solidFill>
            <a:prstDash val="solid"/>
          </a:ln>
        </p:spPr>
      </p:sp>
      <p:sp>
        <p:nvSpPr>
          <p:cNvPr id="11" name="Text 9"/>
          <p:cNvSpPr txBox="1"/>
          <p:nvPr/>
        </p:nvSpPr>
        <p:spPr>
          <a:xfrm>
            <a:off x="3028950" y="18288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3028950" y="2606040"/>
            <a:ext cx="160020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Extract</a:t>
            </a:r>
            <a:endParaRPr lang="en-US" sz="2200" dirty="0"/>
          </a:p>
        </p:txBody>
      </p:sp>
      <p:sp>
        <p:nvSpPr>
          <p:cNvPr id="13" name="Text 11"/>
          <p:cNvSpPr txBox="1"/>
          <p:nvPr/>
        </p:nvSpPr>
        <p:spPr>
          <a:xfrm>
            <a:off x="3028950" y="3108960"/>
            <a:ext cx="1600200" cy="1920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PDF text layer, Word, Excel, plain text; Tesseract OCR for scans and images; LibreOffice for legacy formats.</a:t>
            </a:r>
            <a:endParaRPr lang="en-US" sz="1400" dirty="0"/>
          </a:p>
        </p:txBody>
      </p:sp>
      <p:sp>
        <p:nvSpPr>
          <p:cNvPr id="14" name="Shape 12"/>
          <p:cNvSpPr/>
          <p:nvPr/>
        </p:nvSpPr>
        <p:spPr>
          <a:xfrm>
            <a:off x="4866894" y="3383280"/>
            <a:ext cx="176022" cy="0"/>
          </a:xfrm>
          <a:prstGeom prst="line">
            <a:avLst/>
          </a:prstGeom>
          <a:noFill/>
          <a:ln w="22225">
            <a:solidFill>
              <a:schemeClr val="accent6"/>
            </a:solidFill>
            <a:prstDash val="solid"/>
            <a:tailEnd type="triangle"/>
          </a:ln>
        </p:spPr>
      </p:sp>
      <p:sp>
        <p:nvSpPr>
          <p:cNvPr id="15" name="step-card-3"/>
          <p:cNvSpPr/>
          <p:nvPr/>
        </p:nvSpPr>
        <p:spPr>
          <a:xfrm>
            <a:off x="5052060" y="1600200"/>
            <a:ext cx="2057400" cy="3566160"/>
          </a:xfrm>
          <a:prstGeom prst="roundRect">
            <a:avLst>
              <a:gd name="adj" fmla="val 3556"/>
            </a:avLst>
          </a:prstGeom>
          <a:solidFill>
            <a:schemeClr val="bg2"/>
          </a:solidFill>
          <a:ln w="12700">
            <a:solidFill>
              <a:schemeClr val="bg2"/>
            </a:solidFill>
            <a:prstDash val="solid"/>
          </a:ln>
        </p:spPr>
      </p:sp>
      <p:sp>
        <p:nvSpPr>
          <p:cNvPr id="16" name="Shape 14"/>
          <p:cNvSpPr/>
          <p:nvPr/>
        </p:nvSpPr>
        <p:spPr>
          <a:xfrm>
            <a:off x="5280660" y="1828800"/>
            <a:ext cx="594360" cy="594360"/>
          </a:xfrm>
          <a:prstGeom prst="ellipse">
            <a:avLst/>
          </a:prstGeom>
          <a:solidFill>
            <a:schemeClr val="accent1"/>
          </a:solidFill>
          <a:ln w="12700">
            <a:solidFill>
              <a:schemeClr val="accent1"/>
            </a:solidFill>
            <a:prstDash val="solid"/>
          </a:ln>
        </p:spPr>
      </p:sp>
      <p:sp>
        <p:nvSpPr>
          <p:cNvPr id="17" name="Text 15"/>
          <p:cNvSpPr txBox="1"/>
          <p:nvPr/>
        </p:nvSpPr>
        <p:spPr>
          <a:xfrm>
            <a:off x="5280660" y="18288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18" name="Text 16"/>
          <p:cNvSpPr txBox="1"/>
          <p:nvPr/>
        </p:nvSpPr>
        <p:spPr>
          <a:xfrm>
            <a:off x="5280660" y="2606040"/>
            <a:ext cx="160020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Chunk</a:t>
            </a:r>
            <a:endParaRPr lang="en-US" sz="2200" dirty="0"/>
          </a:p>
        </p:txBody>
      </p:sp>
      <p:sp>
        <p:nvSpPr>
          <p:cNvPr id="19" name="Text 17"/>
          <p:cNvSpPr txBox="1"/>
          <p:nvPr/>
        </p:nvSpPr>
        <p:spPr>
          <a:xfrm>
            <a:off x="5280660" y="3108960"/>
            <a:ext cx="1600200" cy="1920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About 1,500 characters with 200 overlap, tagged with source path so every answer can cite its file.</a:t>
            </a:r>
            <a:endParaRPr lang="en-US" sz="1400" dirty="0"/>
          </a:p>
        </p:txBody>
      </p:sp>
      <p:sp>
        <p:nvSpPr>
          <p:cNvPr id="20" name="Shape 18"/>
          <p:cNvSpPr/>
          <p:nvPr/>
        </p:nvSpPr>
        <p:spPr>
          <a:xfrm>
            <a:off x="7118604" y="3383280"/>
            <a:ext cx="176022" cy="0"/>
          </a:xfrm>
          <a:prstGeom prst="line">
            <a:avLst/>
          </a:prstGeom>
          <a:noFill/>
          <a:ln w="22225">
            <a:solidFill>
              <a:schemeClr val="accent6"/>
            </a:solidFill>
            <a:prstDash val="solid"/>
            <a:tailEnd type="triangle"/>
          </a:ln>
        </p:spPr>
      </p:sp>
      <p:sp>
        <p:nvSpPr>
          <p:cNvPr id="21" name="step-card-4"/>
          <p:cNvSpPr/>
          <p:nvPr/>
        </p:nvSpPr>
        <p:spPr>
          <a:xfrm>
            <a:off x="7303770" y="1600200"/>
            <a:ext cx="2057400" cy="3566160"/>
          </a:xfrm>
          <a:prstGeom prst="roundRect">
            <a:avLst>
              <a:gd name="adj" fmla="val 3556"/>
            </a:avLst>
          </a:prstGeom>
          <a:solidFill>
            <a:schemeClr val="bg2"/>
          </a:solidFill>
          <a:ln w="12700">
            <a:solidFill>
              <a:schemeClr val="bg2"/>
            </a:solidFill>
            <a:prstDash val="solid"/>
          </a:ln>
        </p:spPr>
      </p:sp>
      <p:sp>
        <p:nvSpPr>
          <p:cNvPr id="22" name="Shape 20"/>
          <p:cNvSpPr/>
          <p:nvPr/>
        </p:nvSpPr>
        <p:spPr>
          <a:xfrm>
            <a:off x="7532370" y="1828800"/>
            <a:ext cx="594360" cy="594360"/>
          </a:xfrm>
          <a:prstGeom prst="ellipse">
            <a:avLst/>
          </a:prstGeom>
          <a:solidFill>
            <a:schemeClr val="accent1"/>
          </a:solidFill>
          <a:ln w="12700">
            <a:solidFill>
              <a:schemeClr val="accent1"/>
            </a:solidFill>
            <a:prstDash val="solid"/>
          </a:ln>
        </p:spPr>
      </p:sp>
      <p:sp>
        <p:nvSpPr>
          <p:cNvPr id="23" name="Text 21"/>
          <p:cNvSpPr txBox="1"/>
          <p:nvPr/>
        </p:nvSpPr>
        <p:spPr>
          <a:xfrm>
            <a:off x="7532370" y="18288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24" name="Text 22"/>
          <p:cNvSpPr txBox="1"/>
          <p:nvPr/>
        </p:nvSpPr>
        <p:spPr>
          <a:xfrm>
            <a:off x="7532370" y="2606040"/>
            <a:ext cx="160020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Index</a:t>
            </a:r>
            <a:endParaRPr lang="en-US" sz="2200" dirty="0"/>
          </a:p>
        </p:txBody>
      </p:sp>
      <p:sp>
        <p:nvSpPr>
          <p:cNvPr id="25" name="Text 23"/>
          <p:cNvSpPr txBox="1"/>
          <p:nvPr/>
        </p:nvSpPr>
        <p:spPr>
          <a:xfrm>
            <a:off x="7532370" y="3108960"/>
            <a:ext cx="1600200" cy="1920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Embed with nomic-embed-text into LanceDB, and build an FTS5 keyword index in the same manifest.</a:t>
            </a:r>
            <a:endParaRPr lang="en-US" sz="1400" dirty="0"/>
          </a:p>
        </p:txBody>
      </p:sp>
      <p:sp>
        <p:nvSpPr>
          <p:cNvPr id="26" name="Shape 24"/>
          <p:cNvSpPr/>
          <p:nvPr/>
        </p:nvSpPr>
        <p:spPr>
          <a:xfrm>
            <a:off x="9370314" y="3383280"/>
            <a:ext cx="176022" cy="0"/>
          </a:xfrm>
          <a:prstGeom prst="line">
            <a:avLst/>
          </a:prstGeom>
          <a:noFill/>
          <a:ln w="22225">
            <a:solidFill>
              <a:schemeClr val="accent6"/>
            </a:solidFill>
            <a:prstDash val="solid"/>
            <a:tailEnd type="triangle"/>
          </a:ln>
        </p:spPr>
      </p:sp>
      <p:sp>
        <p:nvSpPr>
          <p:cNvPr id="27" name="step-card-5"/>
          <p:cNvSpPr/>
          <p:nvPr/>
        </p:nvSpPr>
        <p:spPr>
          <a:xfrm>
            <a:off x="9555480" y="1600200"/>
            <a:ext cx="2057400" cy="3566160"/>
          </a:xfrm>
          <a:prstGeom prst="roundRect">
            <a:avLst>
              <a:gd name="adj" fmla="val 3556"/>
            </a:avLst>
          </a:prstGeom>
          <a:solidFill>
            <a:schemeClr val="bg2"/>
          </a:solidFill>
          <a:ln w="12700">
            <a:solidFill>
              <a:schemeClr val="bg2"/>
            </a:solidFill>
            <a:prstDash val="solid"/>
          </a:ln>
        </p:spPr>
      </p:sp>
      <p:sp>
        <p:nvSpPr>
          <p:cNvPr id="28" name="Shape 26"/>
          <p:cNvSpPr/>
          <p:nvPr/>
        </p:nvSpPr>
        <p:spPr>
          <a:xfrm>
            <a:off x="9784080" y="1828800"/>
            <a:ext cx="594360" cy="594360"/>
          </a:xfrm>
          <a:prstGeom prst="ellipse">
            <a:avLst/>
          </a:prstGeom>
          <a:solidFill>
            <a:schemeClr val="accent2"/>
          </a:solidFill>
          <a:ln w="12700">
            <a:solidFill>
              <a:schemeClr val="accent1"/>
            </a:solidFill>
            <a:prstDash val="solid"/>
          </a:ln>
        </p:spPr>
      </p:sp>
      <p:sp>
        <p:nvSpPr>
          <p:cNvPr id="29" name="Text 27"/>
          <p:cNvSpPr txBox="1"/>
          <p:nvPr/>
        </p:nvSpPr>
        <p:spPr>
          <a:xfrm>
            <a:off x="9784080" y="1828800"/>
            <a:ext cx="594360" cy="59436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5</a:t>
            </a:r>
            <a:endParaRPr lang="en-US" sz="2000" dirty="0"/>
          </a:p>
        </p:txBody>
      </p:sp>
      <p:sp>
        <p:nvSpPr>
          <p:cNvPr id="30" name="Text 28"/>
          <p:cNvSpPr txBox="1"/>
          <p:nvPr/>
        </p:nvSpPr>
        <p:spPr>
          <a:xfrm>
            <a:off x="9784080" y="2606040"/>
            <a:ext cx="160020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Maintain</a:t>
            </a:r>
            <a:endParaRPr lang="en-US" sz="2200" dirty="0"/>
          </a:p>
        </p:txBody>
      </p:sp>
      <p:sp>
        <p:nvSpPr>
          <p:cNvPr id="31" name="Text 29"/>
          <p:cNvSpPr txBox="1"/>
          <p:nvPr/>
        </p:nvSpPr>
        <p:spPr>
          <a:xfrm>
            <a:off x="9784080" y="3108960"/>
            <a:ext cx="1600200" cy="1920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command runs ingest, chunk and index incrementally; daily from cron, with an emailed report.</a:t>
            </a:r>
            <a:endParaRPr lang="en-US" sz="1400" dirty="0"/>
          </a:p>
        </p:txBody>
      </p:sp>
      <p:sp>
        <p:nvSpPr>
          <p:cNvPr id="32" name="Text 30"/>
          <p:cNvSpPr txBox="1"/>
          <p:nvPr/>
        </p:nvSpPr>
        <p:spPr>
          <a:xfrm>
            <a:off x="548640" y="5440680"/>
            <a:ext cx="11064240"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Incremental by design: only new, changed or removed files are reprocessed on each run.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Deployment: from Signal message to tool call</a:t>
            </a:r>
            <a:endParaRPr lang="en-US" sz="3600" dirty="0"/>
          </a:p>
        </p:txBody>
      </p:sp>
      <p:sp>
        <p:nvSpPr>
          <p:cNvPr id="3" name="chain-1"/>
          <p:cNvSpPr/>
          <p:nvPr/>
        </p:nvSpPr>
        <p:spPr>
          <a:xfrm>
            <a:off x="548640" y="1737360"/>
            <a:ext cx="1920240" cy="1920240"/>
          </a:xfrm>
          <a:prstGeom prst="roundRect">
            <a:avLst>
              <a:gd name="adj" fmla="val 3810"/>
            </a:avLst>
          </a:prstGeom>
          <a:solidFill>
            <a:schemeClr val="tx1"/>
          </a:solidFill>
          <a:ln w="12700">
            <a:solidFill>
              <a:schemeClr val="tx1"/>
            </a:solidFill>
            <a:prstDash val="solid"/>
          </a:ln>
        </p:spPr>
      </p:sp>
      <p:sp>
        <p:nvSpPr>
          <p:cNvPr id="4" name="Text 2"/>
          <p:cNvSpPr txBox="1"/>
          <p:nvPr/>
        </p:nvSpPr>
        <p:spPr>
          <a:xfrm>
            <a:off x="685800" y="1828800"/>
            <a:ext cx="1645920" cy="82296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Signal</a:t>
            </a:r>
            <a:endParaRPr lang="en-US" sz="2000" dirty="0"/>
          </a:p>
        </p:txBody>
      </p:sp>
      <p:sp>
        <p:nvSpPr>
          <p:cNvPr id="5" name="Text 3"/>
          <p:cNvSpPr txBox="1"/>
          <p:nvPr/>
        </p:nvSpPr>
        <p:spPr>
          <a:xfrm>
            <a:off x="685800" y="2697480"/>
            <a:ext cx="1645920" cy="91440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your phone</a:t>
            </a:r>
            <a:endParaRPr lang="en-US" sz="1400" dirty="0"/>
          </a:p>
        </p:txBody>
      </p:sp>
      <p:sp>
        <p:nvSpPr>
          <p:cNvPr id="6" name="Shape 4"/>
          <p:cNvSpPr/>
          <p:nvPr/>
        </p:nvSpPr>
        <p:spPr>
          <a:xfrm>
            <a:off x="2487168" y="2697480"/>
            <a:ext cx="329184" cy="0"/>
          </a:xfrm>
          <a:prstGeom prst="line">
            <a:avLst/>
          </a:prstGeom>
          <a:noFill/>
          <a:ln w="22225">
            <a:solidFill>
              <a:schemeClr val="accent6"/>
            </a:solidFill>
            <a:prstDash val="solid"/>
            <a:tailEnd type="triangle"/>
          </a:ln>
        </p:spPr>
      </p:sp>
      <p:sp>
        <p:nvSpPr>
          <p:cNvPr id="7" name="chain-2"/>
          <p:cNvSpPr/>
          <p:nvPr/>
        </p:nvSpPr>
        <p:spPr>
          <a:xfrm>
            <a:off x="2834640" y="1737360"/>
            <a:ext cx="1920240" cy="1920240"/>
          </a:xfrm>
          <a:prstGeom prst="roundRect">
            <a:avLst>
              <a:gd name="adj" fmla="val 3810"/>
            </a:avLst>
          </a:prstGeom>
          <a:solidFill>
            <a:schemeClr val="accent1"/>
          </a:solidFill>
          <a:ln w="12700">
            <a:solidFill>
              <a:schemeClr val="accent1"/>
            </a:solidFill>
            <a:prstDash val="solid"/>
          </a:ln>
        </p:spPr>
      </p:sp>
      <p:sp>
        <p:nvSpPr>
          <p:cNvPr id="8" name="Text 6"/>
          <p:cNvSpPr txBox="1"/>
          <p:nvPr/>
        </p:nvSpPr>
        <p:spPr>
          <a:xfrm>
            <a:off x="2971800" y="1828800"/>
            <a:ext cx="1645920" cy="82296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OpenClaw agent</a:t>
            </a:r>
            <a:endParaRPr lang="en-US" sz="2000" dirty="0"/>
          </a:p>
        </p:txBody>
      </p:sp>
      <p:sp>
        <p:nvSpPr>
          <p:cNvPr id="9" name="Text 7"/>
          <p:cNvSpPr txBox="1"/>
          <p:nvPr/>
        </p:nvSpPr>
        <p:spPr>
          <a:xfrm>
            <a:off x="2971800" y="2697480"/>
            <a:ext cx="1645920" cy="91440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VM npabot-u24 with signal-cli</a:t>
            </a:r>
            <a:endParaRPr lang="en-US" sz="1400" dirty="0"/>
          </a:p>
        </p:txBody>
      </p:sp>
      <p:sp>
        <p:nvSpPr>
          <p:cNvPr id="10" name="Shape 8"/>
          <p:cNvSpPr/>
          <p:nvPr/>
        </p:nvSpPr>
        <p:spPr>
          <a:xfrm>
            <a:off x="4773168" y="2697480"/>
            <a:ext cx="329184" cy="0"/>
          </a:xfrm>
          <a:prstGeom prst="line">
            <a:avLst/>
          </a:prstGeom>
          <a:noFill/>
          <a:ln w="22225">
            <a:solidFill>
              <a:schemeClr val="accent6"/>
            </a:solidFill>
            <a:prstDash val="solid"/>
            <a:tailEnd type="triangle"/>
          </a:ln>
        </p:spPr>
      </p:sp>
      <p:sp>
        <p:nvSpPr>
          <p:cNvPr id="11" name="chain-3"/>
          <p:cNvSpPr/>
          <p:nvPr/>
        </p:nvSpPr>
        <p:spPr>
          <a:xfrm>
            <a:off x="5120640" y="1737360"/>
            <a:ext cx="1920240" cy="1920240"/>
          </a:xfrm>
          <a:prstGeom prst="roundRect">
            <a:avLst>
              <a:gd name="adj" fmla="val 3810"/>
            </a:avLst>
          </a:prstGeom>
          <a:solidFill>
            <a:schemeClr val="accent3"/>
          </a:solidFill>
          <a:ln w="12700">
            <a:solidFill>
              <a:schemeClr val="accent3"/>
            </a:solidFill>
            <a:prstDash val="solid"/>
          </a:ln>
        </p:spPr>
      </p:sp>
      <p:sp>
        <p:nvSpPr>
          <p:cNvPr id="12" name="Text 10"/>
          <p:cNvSpPr txBox="1"/>
          <p:nvPr/>
        </p:nvSpPr>
        <p:spPr>
          <a:xfrm>
            <a:off x="5257800" y="1828800"/>
            <a:ext cx="1645920" cy="82296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MCP tool</a:t>
            </a:r>
            <a:endParaRPr lang="en-US" sz="2000" dirty="0"/>
          </a:p>
        </p:txBody>
      </p:sp>
      <p:sp>
        <p:nvSpPr>
          <p:cNvPr id="13" name="Text 11"/>
          <p:cNvSpPr txBox="1"/>
          <p:nvPr/>
        </p:nvSpPr>
        <p:spPr>
          <a:xfrm>
            <a:off x="5257800" y="2697480"/>
            <a:ext cx="1645920" cy="91440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ask_documents over HTTP, port 8200</a:t>
            </a:r>
            <a:endParaRPr lang="en-US" sz="1400" dirty="0"/>
          </a:p>
        </p:txBody>
      </p:sp>
      <p:sp>
        <p:nvSpPr>
          <p:cNvPr id="14" name="Shape 12"/>
          <p:cNvSpPr/>
          <p:nvPr/>
        </p:nvSpPr>
        <p:spPr>
          <a:xfrm>
            <a:off x="7059168" y="2697480"/>
            <a:ext cx="329184" cy="0"/>
          </a:xfrm>
          <a:prstGeom prst="line">
            <a:avLst/>
          </a:prstGeom>
          <a:noFill/>
          <a:ln w="22225">
            <a:solidFill>
              <a:schemeClr val="accent6"/>
            </a:solidFill>
            <a:prstDash val="solid"/>
            <a:tailEnd type="triangle"/>
          </a:ln>
        </p:spPr>
      </p:sp>
      <p:sp>
        <p:nvSpPr>
          <p:cNvPr id="15" name="chain-4"/>
          <p:cNvSpPr/>
          <p:nvPr/>
        </p:nvSpPr>
        <p:spPr>
          <a:xfrm>
            <a:off x="7406640" y="1737360"/>
            <a:ext cx="1920240" cy="1920240"/>
          </a:xfrm>
          <a:prstGeom prst="roundRect">
            <a:avLst>
              <a:gd name="adj" fmla="val 3810"/>
            </a:avLst>
          </a:prstGeom>
          <a:solidFill>
            <a:schemeClr val="accent2"/>
          </a:solidFill>
          <a:ln w="12700">
            <a:solidFill>
              <a:schemeClr val="accent2"/>
            </a:solidFill>
            <a:prstDash val="solid"/>
          </a:ln>
        </p:spPr>
      </p:sp>
      <p:sp>
        <p:nvSpPr>
          <p:cNvPr id="16" name="Text 14"/>
          <p:cNvSpPr txBox="1"/>
          <p:nvPr/>
        </p:nvSpPr>
        <p:spPr>
          <a:xfrm>
            <a:off x="7543800" y="1828800"/>
            <a:ext cx="1645920" cy="8229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Query engine</a:t>
            </a:r>
            <a:endParaRPr lang="en-US" sz="2000" dirty="0"/>
          </a:p>
        </p:txBody>
      </p:sp>
      <p:sp>
        <p:nvSpPr>
          <p:cNvPr id="17" name="Text 15"/>
          <p:cNvSpPr txBox="1"/>
          <p:nvPr/>
        </p:nvSpPr>
        <p:spPr>
          <a:xfrm>
            <a:off x="7543800" y="2697480"/>
            <a:ext cx="164592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hybrid retrieval and fusion on the desktop</a:t>
            </a:r>
            <a:endParaRPr lang="en-US" sz="1400" dirty="0"/>
          </a:p>
        </p:txBody>
      </p:sp>
      <p:sp>
        <p:nvSpPr>
          <p:cNvPr id="18" name="Shape 16"/>
          <p:cNvSpPr/>
          <p:nvPr/>
        </p:nvSpPr>
        <p:spPr>
          <a:xfrm>
            <a:off x="9345168" y="2697480"/>
            <a:ext cx="329184" cy="0"/>
          </a:xfrm>
          <a:prstGeom prst="line">
            <a:avLst/>
          </a:prstGeom>
          <a:noFill/>
          <a:ln w="22225">
            <a:solidFill>
              <a:schemeClr val="accent6"/>
            </a:solidFill>
            <a:prstDash val="solid"/>
            <a:tailEnd type="triangle"/>
          </a:ln>
        </p:spPr>
      </p:sp>
      <p:sp>
        <p:nvSpPr>
          <p:cNvPr id="19" name="chain-5"/>
          <p:cNvSpPr/>
          <p:nvPr/>
        </p:nvSpPr>
        <p:spPr>
          <a:xfrm>
            <a:off x="9692640" y="1737360"/>
            <a:ext cx="1920240" cy="1920240"/>
          </a:xfrm>
          <a:prstGeom prst="roundRect">
            <a:avLst>
              <a:gd name="adj" fmla="val 3810"/>
            </a:avLst>
          </a:prstGeom>
          <a:solidFill>
            <a:schemeClr val="accent4"/>
          </a:solidFill>
          <a:ln w="12700">
            <a:solidFill>
              <a:schemeClr val="accent4"/>
            </a:solidFill>
            <a:prstDash val="solid"/>
          </a:ln>
        </p:spPr>
      </p:sp>
      <p:sp>
        <p:nvSpPr>
          <p:cNvPr id="20" name="Text 18"/>
          <p:cNvSpPr txBox="1"/>
          <p:nvPr/>
        </p:nvSpPr>
        <p:spPr>
          <a:xfrm>
            <a:off x="9829800" y="1828800"/>
            <a:ext cx="1645920" cy="8229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Ollama</a:t>
            </a:r>
            <a:endParaRPr lang="en-US" sz="2000" dirty="0"/>
          </a:p>
        </p:txBody>
      </p:sp>
      <p:sp>
        <p:nvSpPr>
          <p:cNvPr id="21" name="Text 19"/>
          <p:cNvSpPr txBox="1"/>
          <p:nvPr/>
        </p:nvSpPr>
        <p:spPr>
          <a:xfrm>
            <a:off x="9829800" y="2697480"/>
            <a:ext cx="164592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qwen3:8b and nomic-embed-text on an RTX 3080</a:t>
            </a:r>
            <a:endParaRPr lang="en-US" sz="1400" dirty="0"/>
          </a:p>
        </p:txBody>
      </p:sp>
      <p:sp>
        <p:nvSpPr>
          <p:cNvPr id="22" name="Text 20"/>
          <p:cNvSpPr txBox="1"/>
          <p:nvPr/>
        </p:nvSpPr>
        <p:spPr>
          <a:xfrm>
            <a:off x="548640" y="4343400"/>
            <a:ext cx="548640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One engine, three front doors</a:t>
            </a:r>
            <a:endParaRPr lang="en-US" sz="2200" dirty="0"/>
          </a:p>
        </p:txBody>
      </p:sp>
      <p:sp>
        <p:nvSpPr>
          <p:cNvPr id="23" name="door-1"/>
          <p:cNvSpPr/>
          <p:nvPr/>
        </p:nvSpPr>
        <p:spPr>
          <a:xfrm>
            <a:off x="548640" y="4846320"/>
            <a:ext cx="3566160" cy="1188720"/>
          </a:xfrm>
          <a:prstGeom prst="roundRect">
            <a:avLst>
              <a:gd name="adj" fmla="val 6154"/>
            </a:avLst>
          </a:prstGeom>
          <a:solidFill>
            <a:schemeClr val="bg2"/>
          </a:solidFill>
          <a:ln w="12700">
            <a:solidFill>
              <a:schemeClr val="bg2"/>
            </a:solidFill>
            <a:prstDash val="solid"/>
          </a:ln>
        </p:spPr>
      </p:sp>
      <p:sp>
        <p:nvSpPr>
          <p:cNvPr id="24" name="Text 22"/>
          <p:cNvSpPr txBox="1"/>
          <p:nvPr/>
        </p:nvSpPr>
        <p:spPr>
          <a:xfrm>
            <a:off x="777240" y="4846320"/>
            <a:ext cx="3108960" cy="118872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Signal</a:t>
            </a:r>
            <a:endParaRPr lang="en-US" sz="1800" dirty="0"/>
          </a:p>
          <a:p>
            <a:pPr indent="0" marL="0">
              <a:buNone/>
            </a:pPr>
            <a:r>
              <a:rPr lang="en-US" sz="1400" dirty="0">
                <a:solidFill>
                  <a:schemeClr val="tx1"/>
                </a:solidFill>
                <a:latin typeface="Calibri" pitchFamily="34" charset="0"/>
                <a:ea typeface="Calibri" pitchFamily="34" charset="-122"/>
                <a:cs typeface="Calibri" pitchFamily="34" charset="-120"/>
              </a:rPr>
              <a:t>via OpenClaw and MCP</a:t>
            </a:r>
            <a:endParaRPr lang="en-US" sz="1800" dirty="0"/>
          </a:p>
        </p:txBody>
      </p:sp>
      <p:sp>
        <p:nvSpPr>
          <p:cNvPr id="25" name="door-2"/>
          <p:cNvSpPr/>
          <p:nvPr/>
        </p:nvSpPr>
        <p:spPr>
          <a:xfrm>
            <a:off x="4297680" y="4846320"/>
            <a:ext cx="3566160" cy="1188720"/>
          </a:xfrm>
          <a:prstGeom prst="roundRect">
            <a:avLst>
              <a:gd name="adj" fmla="val 6154"/>
            </a:avLst>
          </a:prstGeom>
          <a:solidFill>
            <a:schemeClr val="bg2"/>
          </a:solidFill>
          <a:ln w="12700">
            <a:solidFill>
              <a:schemeClr val="bg2"/>
            </a:solidFill>
            <a:prstDash val="solid"/>
          </a:ln>
        </p:spPr>
      </p:sp>
      <p:sp>
        <p:nvSpPr>
          <p:cNvPr id="26" name="Text 24"/>
          <p:cNvSpPr txBox="1"/>
          <p:nvPr/>
        </p:nvSpPr>
        <p:spPr>
          <a:xfrm>
            <a:off x="4526280" y="4846320"/>
            <a:ext cx="3108960" cy="118872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Open WebUI</a:t>
            </a:r>
            <a:endParaRPr lang="en-US" sz="1800" dirty="0"/>
          </a:p>
          <a:p>
            <a:pPr indent="0" marL="0">
              <a:buNone/>
            </a:pPr>
            <a:r>
              <a:rPr lang="en-US" sz="1400" dirty="0">
                <a:solidFill>
                  <a:schemeClr val="tx1"/>
                </a:solidFill>
                <a:latin typeface="Calibri" pitchFamily="34" charset="0"/>
                <a:ea typeface="Calibri" pitchFamily="34" charset="-122"/>
                <a:cs typeface="Calibri" pitchFamily="34" charset="-120"/>
              </a:rPr>
              <a:t>chat UI over HTTP, port 8100</a:t>
            </a:r>
            <a:endParaRPr lang="en-US" sz="1800" dirty="0"/>
          </a:p>
        </p:txBody>
      </p:sp>
      <p:sp>
        <p:nvSpPr>
          <p:cNvPr id="27" name="door-3"/>
          <p:cNvSpPr/>
          <p:nvPr/>
        </p:nvSpPr>
        <p:spPr>
          <a:xfrm>
            <a:off x="8046720" y="4846320"/>
            <a:ext cx="3566160" cy="1188720"/>
          </a:xfrm>
          <a:prstGeom prst="roundRect">
            <a:avLst>
              <a:gd name="adj" fmla="val 6154"/>
            </a:avLst>
          </a:prstGeom>
          <a:solidFill>
            <a:schemeClr val="bg2"/>
          </a:solidFill>
          <a:ln w="12700">
            <a:solidFill>
              <a:schemeClr val="bg2"/>
            </a:solidFill>
            <a:prstDash val="solid"/>
          </a:ln>
        </p:spPr>
      </p:sp>
      <p:sp>
        <p:nvSpPr>
          <p:cNvPr id="28" name="Text 26"/>
          <p:cNvSpPr txBox="1"/>
          <p:nvPr/>
        </p:nvSpPr>
        <p:spPr>
          <a:xfrm>
            <a:off x="8275320" y="4846320"/>
            <a:ext cx="3108960" cy="118872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Command line</a:t>
            </a:r>
            <a:endParaRPr lang="en-US" sz="1800" dirty="0"/>
          </a:p>
          <a:p>
            <a:pPr indent="0" marL="0">
              <a:buNone/>
            </a:pPr>
            <a:r>
              <a:rPr lang="en-US" sz="1400" dirty="0">
                <a:solidFill>
                  <a:schemeClr val="tx1"/>
                </a:solidFill>
                <a:latin typeface="Calibri" pitchFamily="34" charset="0"/>
                <a:ea typeface="Calibri" pitchFamily="34" charset="-122"/>
                <a:cs typeface="Calibri" pitchFamily="34" charset="-120"/>
              </a:rPr>
              <a:t>run_query.py</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Hardware and scaling headroom</a:t>
            </a:r>
            <a:endParaRPr lang="en-US" sz="3600" dirty="0"/>
          </a:p>
        </p:txBody>
      </p:sp>
      <p:sp>
        <p:nvSpPr>
          <p:cNvPr id="3" name="hw-card"/>
          <p:cNvSpPr/>
          <p:nvPr/>
        </p:nvSpPr>
        <p:spPr>
          <a:xfrm>
            <a:off x="548640" y="1508760"/>
            <a:ext cx="4114800" cy="3429000"/>
          </a:xfrm>
          <a:prstGeom prst="roundRect">
            <a:avLst>
              <a:gd name="adj" fmla="val 2133"/>
            </a:avLst>
          </a:prstGeom>
          <a:solidFill>
            <a:schemeClr val="bg2"/>
          </a:solidFill>
          <a:ln w="12700">
            <a:solidFill>
              <a:schemeClr val="bg2"/>
            </a:solidFill>
            <a:prstDash val="solid"/>
          </a:ln>
        </p:spPr>
      </p:sp>
      <p:sp>
        <p:nvSpPr>
          <p:cNvPr id="4" name="Text 2"/>
          <p:cNvSpPr txBox="1"/>
          <p:nvPr/>
        </p:nvSpPr>
        <p:spPr>
          <a:xfrm>
            <a:off x="822960" y="1645920"/>
            <a:ext cx="3566160" cy="41148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Current hardware</a:t>
            </a:r>
            <a:endParaRPr lang="en-US" sz="2000" dirty="0"/>
          </a:p>
        </p:txBody>
      </p:sp>
      <p:sp>
        <p:nvSpPr>
          <p:cNvPr id="5" name="Text 3"/>
          <p:cNvSpPr txBox="1"/>
          <p:nvPr/>
        </p:nvSpPr>
        <p:spPr>
          <a:xfrm>
            <a:off x="822960" y="2148840"/>
            <a:ext cx="3611880" cy="274320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CPU</a:t>
            </a:r>
            <a:endParaRPr lang="en-US" sz="1400" dirty="0"/>
          </a:p>
          <a:p>
            <a:pPr indent="0" marL="0">
              <a:spcAft>
                <a:spcPts val="700"/>
              </a:spcAft>
              <a:buNone/>
            </a:pPr>
            <a:r>
              <a:rPr lang="en-US" sz="1600" dirty="0">
                <a:solidFill>
                  <a:schemeClr val="tx1"/>
                </a:solidFill>
                <a:latin typeface="Calibri" pitchFamily="34" charset="0"/>
                <a:ea typeface="Calibri" pitchFamily="34" charset="-122"/>
                <a:cs typeface="Calibri" pitchFamily="34" charset="-120"/>
              </a:rPr>
              <a:t>Intel i7-11700K, 8 cores / 16 threads</a:t>
            </a:r>
            <a:endParaRPr lang="en-US" sz="1400" dirty="0"/>
          </a:p>
          <a:p>
            <a:pPr indent="0" marL="0">
              <a:buNone/>
            </a:pPr>
            <a:r>
              <a:rPr lang="en-US" sz="1400" b="1" dirty="0">
                <a:solidFill>
                  <a:schemeClr val="accent1"/>
                </a:solidFill>
                <a:latin typeface="Calibri" pitchFamily="34" charset="0"/>
                <a:ea typeface="Calibri" pitchFamily="34" charset="-122"/>
                <a:cs typeface="Calibri" pitchFamily="34" charset="-120"/>
              </a:rPr>
              <a:t>Memory</a:t>
            </a:r>
            <a:endParaRPr lang="en-US" sz="1400" dirty="0"/>
          </a:p>
          <a:p>
            <a:pPr indent="0" marL="0">
              <a:spcAft>
                <a:spcPts val="700"/>
              </a:spcAft>
              <a:buNone/>
            </a:pPr>
            <a:r>
              <a:rPr lang="en-US" sz="1600" dirty="0">
                <a:solidFill>
                  <a:schemeClr val="tx1"/>
                </a:solidFill>
                <a:latin typeface="Calibri" pitchFamily="34" charset="0"/>
                <a:ea typeface="Calibri" pitchFamily="34" charset="-122"/>
                <a:cs typeface="Calibri" pitchFamily="34" charset="-120"/>
              </a:rPr>
              <a:t>64 GB RAM (about 62 GB usable)</a:t>
            </a:r>
            <a:endParaRPr lang="en-US" sz="1400" dirty="0"/>
          </a:p>
          <a:p>
            <a:pPr indent="0" marL="0">
              <a:buNone/>
            </a:pPr>
            <a:r>
              <a:rPr lang="en-US" sz="1400" b="1" dirty="0">
                <a:solidFill>
                  <a:schemeClr val="accent1"/>
                </a:solidFill>
                <a:latin typeface="Calibri" pitchFamily="34" charset="0"/>
                <a:ea typeface="Calibri" pitchFamily="34" charset="-122"/>
                <a:cs typeface="Calibri" pitchFamily="34" charset="-120"/>
              </a:rPr>
              <a:t>GPU</a:t>
            </a:r>
            <a:endParaRPr lang="en-US" sz="1400" dirty="0"/>
          </a:p>
          <a:p>
            <a:pPr indent="0" marL="0">
              <a:spcAft>
                <a:spcPts val="700"/>
              </a:spcAft>
              <a:buNone/>
            </a:pPr>
            <a:r>
              <a:rPr lang="en-US" sz="1600" dirty="0">
                <a:solidFill>
                  <a:schemeClr val="tx1"/>
                </a:solidFill>
                <a:latin typeface="Calibri" pitchFamily="34" charset="0"/>
                <a:ea typeface="Calibri" pitchFamily="34" charset="-122"/>
                <a:cs typeface="Calibri" pitchFamily="34" charset="-120"/>
              </a:rPr>
              <a:t>RTX 3080, 10 GB VRAM</a:t>
            </a:r>
            <a:endParaRPr lang="en-US" sz="1400" dirty="0"/>
          </a:p>
          <a:p>
            <a:pPr indent="0" marL="0">
              <a:buNone/>
            </a:pPr>
            <a:r>
              <a:rPr lang="en-US" sz="1400" b="1" dirty="0">
                <a:solidFill>
                  <a:schemeClr val="accent1"/>
                </a:solidFill>
                <a:latin typeface="Calibri" pitchFamily="34" charset="0"/>
                <a:ea typeface="Calibri" pitchFamily="34" charset="-122"/>
                <a:cs typeface="Calibri" pitchFamily="34" charset="-120"/>
              </a:rPr>
              <a:t>Storage</a:t>
            </a:r>
            <a:endParaRPr lang="en-US" sz="1400" dirty="0"/>
          </a:p>
          <a:p>
            <a:pPr indent="0" marL="0">
              <a:spcAft>
                <a:spcPts val="700"/>
              </a:spcAft>
              <a:buNone/>
            </a:pPr>
            <a:r>
              <a:rPr lang="en-US" sz="1600" dirty="0">
                <a:solidFill>
                  <a:schemeClr val="tx1"/>
                </a:solidFill>
                <a:latin typeface="Calibri" pitchFamily="34" charset="0"/>
                <a:ea typeface="Calibri" pitchFamily="34" charset="-122"/>
                <a:cs typeface="Calibri" pitchFamily="34" charset="-120"/>
              </a:rPr>
              <a:t>937 GB NVMe, 353 GB free</a:t>
            </a:r>
            <a:endParaRPr lang="en-US" sz="1400" dirty="0"/>
          </a:p>
          <a:p>
            <a:pPr indent="0" marL="0">
              <a:buNone/>
            </a:pPr>
            <a:r>
              <a:rPr lang="en-US" sz="1400" b="1" dirty="0">
                <a:solidFill>
                  <a:schemeClr val="accent1"/>
                </a:solidFill>
                <a:latin typeface="Calibri" pitchFamily="34" charset="0"/>
                <a:ea typeface="Calibri" pitchFamily="34" charset="-122"/>
                <a:cs typeface="Calibri" pitchFamily="34" charset="-120"/>
              </a:rPr>
              <a:t>Corpus today</a:t>
            </a:r>
            <a:endParaRPr lang="en-US" sz="1400" dirty="0"/>
          </a:p>
          <a:p>
            <a:pPr indent="0" marL="0">
              <a:spcAft>
                <a:spcPts val="700"/>
              </a:spcAft>
              <a:buNone/>
            </a:pPr>
            <a:r>
              <a:rPr lang="en-US" sz="1600" dirty="0">
                <a:solidFill>
                  <a:schemeClr val="tx1"/>
                </a:solidFill>
                <a:latin typeface="Calibri" pitchFamily="34" charset="0"/>
                <a:ea typeface="Calibri" pitchFamily="34" charset="-122"/>
                <a:cs typeface="Calibri" pitchFamily="34" charset="-120"/>
              </a:rPr>
              <a:t>About 2,500 files, 1.7 GB, 18k chunks</a:t>
            </a:r>
            <a:endParaRPr lang="en-US" sz="1400" dirty="0"/>
          </a:p>
        </p:txBody>
      </p:sp>
      <p:graphicFrame>
        <p:nvGraphicFramePr>
          <p:cNvPr id="6" name="chart-dense-scan" descr=""/>
          <p:cNvGraphicFramePr/>
          <p:nvPr/>
        </p:nvGraphicFramePr>
        <p:xfrm>
          <a:off x="4937760" y="1508760"/>
          <a:ext cx="6675120" cy="29718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937760" y="4526280"/>
            <a:ext cx="6675120" cy="41148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With an ANN index the 900k search took 6 ms. Keyword (FTS5) search stayed under 40 ms.</a:t>
            </a:r>
            <a:endParaRPr lang="en-US" sz="1200" dirty="0"/>
          </a:p>
        </p:txBody>
      </p:sp>
      <p:sp>
        <p:nvSpPr>
          <p:cNvPr id="8" name="headroom-banner"/>
          <p:cNvSpPr/>
          <p:nvPr/>
        </p:nvSpPr>
        <p:spPr>
          <a:xfrm>
            <a:off x="548640" y="5074920"/>
            <a:ext cx="11064240" cy="1188720"/>
          </a:xfrm>
          <a:prstGeom prst="roundRect">
            <a:avLst>
              <a:gd name="adj" fmla="val 6154"/>
            </a:avLst>
          </a:prstGeom>
          <a:solidFill>
            <a:schemeClr val="tx1"/>
          </a:solidFill>
          <a:ln w="12700">
            <a:solidFill>
              <a:schemeClr val="tx1"/>
            </a:solidFill>
            <a:prstDash val="solid"/>
          </a:ln>
        </p:spPr>
      </p:sp>
      <p:sp>
        <p:nvSpPr>
          <p:cNvPr id="9" name="Text 6"/>
          <p:cNvSpPr txBox="1"/>
          <p:nvPr/>
        </p:nvSpPr>
        <p:spPr>
          <a:xfrm>
            <a:off x="822960" y="5120640"/>
            <a:ext cx="10515600" cy="1097280"/>
          </a:xfrm>
          <a:prstGeom prst="rect">
            <a:avLst/>
          </a:prstGeom>
          <a:noFill/>
          <a:ln/>
        </p:spPr>
        <p:txBody>
          <a:bodyPr wrap="square" lIns="0" tIns="0" rIns="0" bIns="0" rtlCol="0" anchor="ctr"/>
          <a:lstStyle/>
          <a:p>
            <a:pPr indent="0" marL="0">
              <a:spcAft>
                <a:spcPts val="400"/>
              </a:spcAft>
              <a:buNone/>
            </a:pPr>
            <a:r>
              <a:rPr lang="en-US" sz="1500" b="1" dirty="0">
                <a:solidFill>
                  <a:schemeClr val="accent2"/>
                </a:solidFill>
                <a:latin typeface="Calibri" pitchFamily="34" charset="0"/>
                <a:ea typeface="Calibri" pitchFamily="34" charset="-122"/>
                <a:cs typeface="Calibri" pitchFamily="34" charset="-120"/>
              </a:rPr>
              <a:t>Measured: </a:t>
            </a:r>
            <a:pPr indent="0" marL="0">
              <a:spcAft>
                <a:spcPts val="400"/>
              </a:spcAft>
              <a:buNone/>
            </a:pPr>
            <a:r>
              <a:rPr lang="en-US" sz="1500" dirty="0">
                <a:solidFill>
                  <a:schemeClr val="bg1"/>
                </a:solidFill>
                <a:latin typeface="Calibri" pitchFamily="34" charset="0"/>
                <a:ea typeface="Calibri" pitchFamily="34" charset="-122"/>
                <a:cs typeface="Calibri" pitchFamily="34" charset="-120"/>
              </a:rPr>
              <a:t>about 200k chunks as is (28k files, 19 GB); about 1M chunks (140k files, 97 GB) with an ANN index.</a:t>
            </a:r>
            <a:endParaRPr lang="en-US" sz="1500" dirty="0"/>
          </a:p>
          <a:p>
            <a:pPr indent="0" marL="0">
              <a:spcAft>
                <a:spcPts val="400"/>
              </a:spcAft>
              <a:buNone/>
            </a:pPr>
            <a:r>
              <a:rPr lang="en-US" sz="1500" b="1" dirty="0">
                <a:solidFill>
                  <a:schemeClr val="accent2"/>
                </a:solidFill>
                <a:latin typeface="Calibri" pitchFamily="34" charset="0"/>
                <a:ea typeface="Calibri" pitchFamily="34" charset="-122"/>
                <a:cs typeface="Calibri" pitchFamily="34" charset="-120"/>
              </a:rPr>
              <a:t>Design target: </a:t>
            </a:r>
            <a:pPr indent="0" marL="0">
              <a:spcAft>
                <a:spcPts val="400"/>
              </a:spcAft>
              <a:buNone/>
            </a:pPr>
            <a:r>
              <a:rPr lang="en-US" sz="1500" dirty="0">
                <a:solidFill>
                  <a:schemeClr val="bg1"/>
                </a:solidFill>
                <a:latin typeface="Calibri" pitchFamily="34" charset="0"/>
                <a:ea typeface="Calibri" pitchFamily="34" charset="-122"/>
                <a:cs typeface="Calibri" pitchFamily="34" charset="-120"/>
              </a:rPr>
              <a:t>1M documents / 500 GB is about 5-20M chunks, untested here. Raw vectors alone are 15-61 GB against 62 GB of RAM, so memory and ingest time are the open questions.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Status, lessons learned and next steps</a:t>
            </a:r>
            <a:endParaRPr lang="en-US" sz="3600" dirty="0"/>
          </a:p>
        </p:txBody>
      </p:sp>
      <p:sp>
        <p:nvSpPr>
          <p:cNvPr id="3" name="col-1"/>
          <p:cNvSpPr/>
          <p:nvPr/>
        </p:nvSpPr>
        <p:spPr>
          <a:xfrm>
            <a:off x="548640" y="1508760"/>
            <a:ext cx="3566160" cy="4480560"/>
          </a:xfrm>
          <a:prstGeom prst="roundRect">
            <a:avLst>
              <a:gd name="adj" fmla="val 2051"/>
            </a:avLst>
          </a:prstGeom>
          <a:solidFill>
            <a:schemeClr val="bg2"/>
          </a:solidFill>
          <a:ln w="12700">
            <a:solidFill>
              <a:schemeClr val="bg2"/>
            </a:solidFill>
            <a:prstDash val="solid"/>
          </a:ln>
        </p:spPr>
      </p:sp>
      <p:sp>
        <p:nvSpPr>
          <p:cNvPr id="4" name="Shape 2"/>
          <p:cNvSpPr/>
          <p:nvPr/>
        </p:nvSpPr>
        <p:spPr>
          <a:xfrm>
            <a:off x="822960" y="173736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63040" y="1737360"/>
            <a:ext cx="246888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Working today</a:t>
            </a:r>
            <a:endParaRPr lang="en-US" sz="2200" dirty="0"/>
          </a:p>
        </p:txBody>
      </p:sp>
      <p:sp>
        <p:nvSpPr>
          <p:cNvPr id="7" name="Text 5"/>
          <p:cNvSpPr txBox="1"/>
          <p:nvPr/>
        </p:nvSpPr>
        <p:spPr>
          <a:xfrm>
            <a:off x="822960" y="2468880"/>
            <a:ext cx="3063240" cy="33832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All eight pipeline steps implemented</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Real Signal round trip verified, with cited answers</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Daily incremental maintenance with emailed report</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triage.sh: guided troubleshooting menu</a:t>
            </a:r>
            <a:endParaRPr lang="en-US" sz="1600" dirty="0"/>
          </a:p>
        </p:txBody>
      </p:sp>
      <p:sp>
        <p:nvSpPr>
          <p:cNvPr id="8" name="col-2"/>
          <p:cNvSpPr/>
          <p:nvPr/>
        </p:nvSpPr>
        <p:spPr>
          <a:xfrm>
            <a:off x="4297680" y="1508760"/>
            <a:ext cx="3566160" cy="4480560"/>
          </a:xfrm>
          <a:prstGeom prst="roundRect">
            <a:avLst>
              <a:gd name="adj" fmla="val 2051"/>
            </a:avLst>
          </a:prstGeom>
          <a:solidFill>
            <a:srgbClr val="FBEFE0"/>
          </a:solidFill>
          <a:ln w="12700">
            <a:solidFill>
              <a:srgbClr val="FBEFE0"/>
            </a:solidFill>
            <a:prstDash val="solid"/>
          </a:ln>
        </p:spPr>
      </p:sp>
      <p:sp>
        <p:nvSpPr>
          <p:cNvPr id="9" name="Shape 7"/>
          <p:cNvSpPr/>
          <p:nvPr/>
        </p:nvSpPr>
        <p:spPr>
          <a:xfrm>
            <a:off x="4572000" y="173736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4572000" y="17373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5212080" y="1737360"/>
            <a:ext cx="246888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Lessons learned</a:t>
            </a:r>
            <a:endParaRPr lang="en-US" sz="2200" dirty="0"/>
          </a:p>
        </p:txBody>
      </p:sp>
      <p:sp>
        <p:nvSpPr>
          <p:cNvPr id="12" name="Text 10"/>
          <p:cNvSpPr txBox="1"/>
          <p:nvPr/>
        </p:nvSpPr>
        <p:spPr>
          <a:xfrm>
            <a:off x="4572000" y="2468880"/>
            <a:ext cx="3063240" cy="33832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The hard part was the agent calling the tool, not retrieval</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Models under about 14B failed live; the 35B MoE model works</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Isolated tests passed, then failed live in new ways</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Workspace files (SOUL.md, MEMORY.md) can override the tool</a:t>
            </a:r>
            <a:endParaRPr lang="en-US" sz="1600" dirty="0"/>
          </a:p>
        </p:txBody>
      </p:sp>
      <p:sp>
        <p:nvSpPr>
          <p:cNvPr id="13" name="col-3"/>
          <p:cNvSpPr/>
          <p:nvPr/>
        </p:nvSpPr>
        <p:spPr>
          <a:xfrm>
            <a:off x="8046720" y="1508760"/>
            <a:ext cx="3566160" cy="4480560"/>
          </a:xfrm>
          <a:prstGeom prst="roundRect">
            <a:avLst>
              <a:gd name="adj" fmla="val 2051"/>
            </a:avLst>
          </a:prstGeom>
          <a:solidFill>
            <a:srgbClr val="E6EDF3"/>
          </a:solidFill>
          <a:ln w="12700">
            <a:solidFill>
              <a:srgbClr val="E6EDF3"/>
            </a:solidFill>
            <a:prstDash val="solid"/>
          </a:ln>
        </p:spPr>
      </p:sp>
      <p:sp>
        <p:nvSpPr>
          <p:cNvPr id="14" name="Shape 12"/>
          <p:cNvSpPr/>
          <p:nvPr/>
        </p:nvSpPr>
        <p:spPr>
          <a:xfrm>
            <a:off x="8321040" y="1737360"/>
            <a:ext cx="457200" cy="457200"/>
          </a:xfrm>
          <a:prstGeom prst="ellipse">
            <a:avLst/>
          </a:prstGeom>
          <a:solidFill>
            <a:schemeClr val="accent3"/>
          </a:solidFill>
          <a:ln w="12700">
            <a:solidFill>
              <a:schemeClr val="accent3"/>
            </a:solidFill>
            <a:prstDash val="solid"/>
          </a:ln>
        </p:spPr>
      </p:sp>
      <p:sp>
        <p:nvSpPr>
          <p:cNvPr id="15" name="Text 13"/>
          <p:cNvSpPr txBox="1"/>
          <p:nvPr/>
        </p:nvSpPr>
        <p:spPr>
          <a:xfrm>
            <a:off x="832104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8961120" y="1737360"/>
            <a:ext cx="246888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Next</a:t>
            </a:r>
            <a:endParaRPr lang="en-US" sz="2200" dirty="0"/>
          </a:p>
        </p:txBody>
      </p:sp>
      <p:sp>
        <p:nvSpPr>
          <p:cNvPr id="17" name="Text 15"/>
          <p:cNvSpPr txBox="1"/>
          <p:nvPr/>
        </p:nvSpPr>
        <p:spPr>
          <a:xfrm>
            <a:off x="8321040" y="2468880"/>
            <a:ext cx="3063240" cy="33832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Observe OpenClaw's real request before trying a smaller agent model</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Run the MCP server as a systemd service</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Skip Office lock files; fix unreadable files</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Re-scan or re-OCR low-confidence documents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HybridRAG">
  <a:themeElements>
    <a:clrScheme name="HybridRAG">
      <a:dk1>
        <a:srgbClr val="10282C"/>
      </a:dk1>
      <a:lt1>
        <a:srgbClr val="FFFFFF"/>
      </a:lt1>
      <a:dk2>
        <a:srgbClr val="1F6F6D"/>
      </a:dk2>
      <a:lt2>
        <a:srgbClr val="EAF1F1"/>
      </a:lt2>
      <a:accent1>
        <a:srgbClr val="1F6F6D"/>
      </a:accent1>
      <a:accent2>
        <a:srgbClr val="E08A2E"/>
      </a:accent2>
      <a:accent3>
        <a:srgbClr val="5B7C99"/>
      </a:accent3>
      <a:accent4>
        <a:srgbClr val="8AA89A"/>
      </a:accent4>
      <a:accent5>
        <a:srgbClr val="B4543A"/>
      </a:accent5>
      <a:accent6>
        <a:srgbClr val="3D4F54"/>
      </a:accent6>
      <a:hlink>
        <a:srgbClr val="1F6F6D"/>
      </a:hlink>
      <a:folHlink>
        <a:srgbClr val="5B7C99"/>
      </a:folHlink>
    </a:clrScheme>
    <a:fontScheme name="HybridRA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 Secure Hybrid RAG</dc:title>
  <dc:subject>PptxGenJS Presentation</dc:subject>
  <dc:creator>Nikolaus Almassy</dc:creator>
  <cp:lastModifiedBy>Nikolaus Almassy</cp:lastModifiedBy>
  <cp:revision>1</cp:revision>
  <dcterms:created xsi:type="dcterms:W3CDTF">2026-10-20T01:18:32Z</dcterms:created>
  <dcterms:modified xsi:type="dcterms:W3CDTF">2026-10-20T01:18:32Z</dcterms:modified>
</cp:coreProperties>
</file>